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DM Sans" charset="1" panose="00000000000000000000"/>
      <p:regular r:id="rId24"/>
    </p:embeddedFont>
    <p:embeddedFont>
      <p:font typeface="Poppins" charset="1" panose="00000500000000000000"/>
      <p:regular r:id="rId25"/>
    </p:embeddedFont>
    <p:embeddedFont>
      <p:font typeface="Poppins Bold" charset="1" panose="000008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embeddings/oleObject1.bin" Type="http://schemas.openxmlformats.org/officeDocument/2006/relationships/oleObject"/><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2.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embeddings/oleObject2.bin" Type="http://schemas.openxmlformats.org/officeDocument/2006/relationships/oleObject"/><Relationship Id="rId4" Target="../media/image2.png" Type="http://schemas.openxmlformats.org/officeDocument/2006/relationships/image"/><Relationship Id="rId5"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5.png" Type="http://schemas.openxmlformats.org/officeDocument/2006/relationships/image"/><Relationship Id="rId4" Target="../embeddings/oleObject3.bin" Type="http://schemas.openxmlformats.org/officeDocument/2006/relationships/oleObjec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6.png" Type="http://schemas.openxmlformats.org/officeDocument/2006/relationships/image"/><Relationship Id="rId4" Target="../embeddings/oleObject4.bin" Type="http://schemas.openxmlformats.org/officeDocument/2006/relationships/oleObjec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7.png" Type="http://schemas.openxmlformats.org/officeDocument/2006/relationships/image"/><Relationship Id="rId4" Target="https://drive.google.com/file/d/13G00e2Hlx7dsd1fJ2yL4sOca7nnBI1YB/view?usp=drive_link" TargetMode="External" Type="http://schemas.openxmlformats.org/officeDocument/2006/relationships/hyperlink"/></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8.png" Type="http://schemas.openxmlformats.org/officeDocument/2006/relationships/image"/><Relationship Id="rId4" Target="../embeddings/oleObject5.bin" Type="http://schemas.openxmlformats.org/officeDocument/2006/relationships/oleObject"/><Relationship Id="rId5" Target="../media/image19.png" Type="http://schemas.openxmlformats.org/officeDocument/2006/relationships/image"/><Relationship Id="rId6"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1.png" Type="http://schemas.openxmlformats.org/officeDocument/2006/relationships/image"/><Relationship Id="rId4" Target="../embeddings/oleObject6.bin" Type="http://schemas.openxmlformats.org/officeDocument/2006/relationships/oleObject"/><Relationship Id="rId5" Target="../media/image22.png" Type="http://schemas.openxmlformats.org/officeDocument/2006/relationships/image"/><Relationship Id="rId6" Target="../media/image23.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233675" y="161925"/>
            <a:ext cx="1650000" cy="1243827"/>
          </a:xfrm>
          <a:custGeom>
            <a:avLst/>
            <a:gdLst/>
            <a:ahLst/>
            <a:cxnLst/>
            <a:rect r="r" b="b" t="t" l="l"/>
            <a:pathLst>
              <a:path h="1243827" w="1650000">
                <a:moveTo>
                  <a:pt x="0" y="0"/>
                </a:moveTo>
                <a:lnTo>
                  <a:pt x="1650000" y="0"/>
                </a:lnTo>
                <a:lnTo>
                  <a:pt x="1650000" y="1243827"/>
                </a:lnTo>
                <a:lnTo>
                  <a:pt x="0" y="1243827"/>
                </a:lnTo>
                <a:lnTo>
                  <a:pt x="0" y="0"/>
                </a:lnTo>
                <a:close/>
              </a:path>
            </a:pathLst>
          </a:custGeom>
          <a:blipFill>
            <a:blip r:embed="rId3"/>
            <a:stretch>
              <a:fillRect l="0" t="0" r="-201533" b="0"/>
            </a:stretch>
          </a:blipFill>
        </p:spPr>
      </p:sp>
      <p:sp>
        <p:nvSpPr>
          <p:cNvPr name="Freeform 4" id="4"/>
          <p:cNvSpPr/>
          <p:nvPr/>
        </p:nvSpPr>
        <p:spPr>
          <a:xfrm flipH="false" flipV="false" rot="0">
            <a:off x="14861480" y="211666"/>
            <a:ext cx="3169345" cy="1184561"/>
          </a:xfrm>
          <a:custGeom>
            <a:avLst/>
            <a:gdLst/>
            <a:ahLst/>
            <a:cxnLst/>
            <a:rect r="r" b="b" t="t" l="l"/>
            <a:pathLst>
              <a:path h="1184561" w="3169345">
                <a:moveTo>
                  <a:pt x="0" y="0"/>
                </a:moveTo>
                <a:lnTo>
                  <a:pt x="3169345" y="0"/>
                </a:lnTo>
                <a:lnTo>
                  <a:pt x="3169345" y="1184561"/>
                </a:lnTo>
                <a:lnTo>
                  <a:pt x="0" y="1184561"/>
                </a:lnTo>
                <a:lnTo>
                  <a:pt x="0" y="0"/>
                </a:lnTo>
                <a:close/>
              </a:path>
            </a:pathLst>
          </a:custGeom>
          <a:blipFill>
            <a:blip r:embed="rId4"/>
            <a:stretch>
              <a:fillRect l="-49502" t="0" r="0" b="0"/>
            </a:stretch>
          </a:blipFill>
        </p:spPr>
      </p:sp>
      <p:sp>
        <p:nvSpPr>
          <p:cNvPr name="TextBox 5" id="5"/>
          <p:cNvSpPr txBox="true"/>
          <p:nvPr/>
        </p:nvSpPr>
        <p:spPr>
          <a:xfrm rot="0">
            <a:off x="4894686" y="8884719"/>
            <a:ext cx="8119914" cy="462920"/>
          </a:xfrm>
          <a:prstGeom prst="rect">
            <a:avLst/>
          </a:prstGeom>
        </p:spPr>
        <p:txBody>
          <a:bodyPr anchor="t" rtlCol="false" tIns="0" lIns="0" bIns="0" rIns="0">
            <a:spAutoFit/>
          </a:bodyPr>
          <a:lstStyle/>
          <a:p>
            <a:pPr algn="ctr">
              <a:lnSpc>
                <a:spcPts val="3884"/>
              </a:lnSpc>
            </a:pPr>
            <a:r>
              <a:rPr lang="en-US" sz="2774">
                <a:solidFill>
                  <a:srgbClr val="F5F5F7"/>
                </a:solidFill>
                <a:latin typeface="DM Sans"/>
                <a:ea typeface="DM Sans"/>
                <a:cs typeface="DM Sans"/>
                <a:sym typeface="DM Sans"/>
              </a:rPr>
              <a:t>Carolina Cheuquepil, Catalina Núñez, Fanny Araujo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82029" y="2355188"/>
            <a:ext cx="5279065" cy="52790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000" t="0" r="-24999" b="0"/>
              </a:stretch>
            </a:blipFill>
            <a:ln w="609600" cap="sq">
              <a:solidFill>
                <a:srgbClr val="021E45"/>
              </a:solidFill>
              <a:prstDash val="solid"/>
              <a:miter/>
            </a:ln>
          </p:spPr>
        </p:sp>
      </p:grpSp>
      <p:grpSp>
        <p:nvGrpSpPr>
          <p:cNvPr name="Group 4" id="4"/>
          <p:cNvGrpSpPr/>
          <p:nvPr/>
        </p:nvGrpSpPr>
        <p:grpSpPr>
          <a:xfrm rot="0">
            <a:off x="14380137" y="7931283"/>
            <a:ext cx="1624047" cy="162404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6" id="6"/>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pSp>
        <p:nvGrpSpPr>
          <p:cNvPr name="Group 7" id="7"/>
          <p:cNvGrpSpPr/>
          <p:nvPr/>
        </p:nvGrpSpPr>
        <p:grpSpPr>
          <a:xfrm rot="0">
            <a:off x="12715354" y="6840670"/>
            <a:ext cx="520334" cy="52033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sp>
        <p:nvSpPr>
          <p:cNvPr name="TextBox 10" id="10"/>
          <p:cNvSpPr txBox="true"/>
          <p:nvPr/>
        </p:nvSpPr>
        <p:spPr>
          <a:xfrm rot="0">
            <a:off x="1350179" y="3910321"/>
            <a:ext cx="10910624" cy="4832986"/>
          </a:xfrm>
          <a:prstGeom prst="rect">
            <a:avLst/>
          </a:prstGeom>
        </p:spPr>
        <p:txBody>
          <a:bodyPr anchor="t" rtlCol="false" tIns="0" lIns="0" bIns="0" rIns="0">
            <a:spAutoFit/>
          </a:bodyPr>
          <a:lstStyle/>
          <a:p>
            <a:pPr algn="just">
              <a:lnSpc>
                <a:spcPts val="2939"/>
              </a:lnSpc>
            </a:pPr>
            <a:r>
              <a:rPr lang="en-US" sz="2099" spc="46">
                <a:solidFill>
                  <a:srgbClr val="152540"/>
                </a:solidFill>
                <a:latin typeface="Poppins"/>
                <a:ea typeface="Poppins"/>
                <a:cs typeface="Poppins"/>
                <a:sym typeface="Poppins"/>
              </a:rPr>
              <a:t>El proyecto busca centralizar el conocimiento técnico del Departamento de Soporte TI del Holding Dimarsa y estandarizar procedimientos recurrentes mediante una base de conocimiento y checklists. Actualmente, las soluciones se encuentran distribuidas entre memoria de los técnicos, planillas Excel, cuadernos, manuales, correos y otros medios. Esta situación genera dependencia de personas, dificultad para reutilizar soluciones y riesgo de omitir pasos en tareas críticas.</a:t>
            </a:r>
          </a:p>
          <a:p>
            <a:pPr algn="just">
              <a:lnSpc>
                <a:spcPts val="2939"/>
              </a:lnSpc>
            </a:pPr>
          </a:p>
          <a:p>
            <a:pPr algn="just">
              <a:lnSpc>
                <a:spcPts val="2939"/>
              </a:lnSpc>
            </a:pPr>
            <a:r>
              <a:rPr lang="en-US" sz="2099" spc="46">
                <a:solidFill>
                  <a:srgbClr val="152540"/>
                </a:solidFill>
                <a:latin typeface="Poppins"/>
                <a:ea typeface="Poppins"/>
                <a:cs typeface="Poppins"/>
                <a:sym typeface="Poppins"/>
              </a:rPr>
              <a:t>La relevancia radica en que Soporte participa directamente en la continuidad operacional del Holding, especialmente en procesos que pueden afectar las ventas. El MVP se concentra en resolver primero el problema de conocimiento disperso y procedimientos no estandarizados.</a:t>
            </a:r>
          </a:p>
          <a:p>
            <a:pPr algn="just">
              <a:lnSpc>
                <a:spcPts val="2939"/>
              </a:lnSpc>
            </a:pPr>
          </a:p>
        </p:txBody>
      </p:sp>
      <p:sp>
        <p:nvSpPr>
          <p:cNvPr name="Freeform 11" id="11"/>
          <p:cNvSpPr/>
          <p:nvPr/>
        </p:nvSpPr>
        <p:spPr>
          <a:xfrm flipH="false" flipV="false" rot="0">
            <a:off x="13397356" y="249377"/>
            <a:ext cx="4738244" cy="1184561"/>
          </a:xfrm>
          <a:custGeom>
            <a:avLst/>
            <a:gdLst/>
            <a:ahLst/>
            <a:cxnLst/>
            <a:rect r="r" b="b" t="t" l="l"/>
            <a:pathLst>
              <a:path h="1184561" w="4738244">
                <a:moveTo>
                  <a:pt x="0" y="0"/>
                </a:moveTo>
                <a:lnTo>
                  <a:pt x="4738244" y="0"/>
                </a:lnTo>
                <a:lnTo>
                  <a:pt x="4738244" y="1184561"/>
                </a:lnTo>
                <a:lnTo>
                  <a:pt x="0" y="1184561"/>
                </a:lnTo>
                <a:lnTo>
                  <a:pt x="0" y="0"/>
                </a:lnTo>
                <a:close/>
              </a:path>
            </a:pathLst>
          </a:custGeom>
          <a:blipFill>
            <a:blip r:embed="rId3"/>
            <a:stretch>
              <a:fillRect l="0" t="0" r="0" b="0"/>
            </a:stretch>
          </a:blipFill>
        </p:spPr>
      </p:sp>
      <p:sp>
        <p:nvSpPr>
          <p:cNvPr name="TextBox 12" id="12"/>
          <p:cNvSpPr txBox="true"/>
          <p:nvPr/>
        </p:nvSpPr>
        <p:spPr>
          <a:xfrm rot="0">
            <a:off x="1350179" y="1966587"/>
            <a:ext cx="9472083" cy="1386535"/>
          </a:xfrm>
          <a:prstGeom prst="rect">
            <a:avLst/>
          </a:prstGeom>
        </p:spPr>
        <p:txBody>
          <a:bodyPr anchor="t" rtlCol="false" tIns="0" lIns="0" bIns="0" rIns="0">
            <a:spAutoFit/>
          </a:bodyPr>
          <a:lstStyle/>
          <a:p>
            <a:pPr algn="l">
              <a:lnSpc>
                <a:spcPts val="10726"/>
              </a:lnSpc>
            </a:pPr>
            <a:r>
              <a:rPr lang="en-US" b="true" sz="7662" spc="720">
                <a:solidFill>
                  <a:srgbClr val="152540"/>
                </a:solidFill>
                <a:latin typeface="Poppins Bold"/>
                <a:ea typeface="Poppins Bold"/>
                <a:cs typeface="Poppins Bold"/>
                <a:sym typeface="Poppins Bold"/>
              </a:rPr>
              <a:t>DEL PROYECTO</a:t>
            </a:r>
          </a:p>
        </p:txBody>
      </p:sp>
      <p:sp>
        <p:nvSpPr>
          <p:cNvPr name="TextBox 13" id="13"/>
          <p:cNvSpPr txBox="true"/>
          <p:nvPr/>
        </p:nvSpPr>
        <p:spPr>
          <a:xfrm rot="0">
            <a:off x="1350179" y="1148188"/>
            <a:ext cx="12317251" cy="1036735"/>
          </a:xfrm>
          <a:prstGeom prst="rect">
            <a:avLst/>
          </a:prstGeom>
        </p:spPr>
        <p:txBody>
          <a:bodyPr anchor="t" rtlCol="false" tIns="0" lIns="0" bIns="0" rIns="0">
            <a:spAutoFit/>
          </a:bodyPr>
          <a:lstStyle/>
          <a:p>
            <a:pPr algn="l">
              <a:lnSpc>
                <a:spcPts val="7957"/>
              </a:lnSpc>
            </a:pPr>
            <a:r>
              <a:rPr lang="en-US" sz="5683" spc="534">
                <a:solidFill>
                  <a:srgbClr val="152540"/>
                </a:solidFill>
                <a:latin typeface="Poppins"/>
                <a:ea typeface="Poppins"/>
                <a:cs typeface="Poppins"/>
                <a:sym typeface="Poppins"/>
              </a:rPr>
              <a:t>DESCRIPCIÓN Y RELEVANCIA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979254" y="-1736813"/>
            <a:ext cx="3473625" cy="347362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pSp>
        <p:nvGrpSpPr>
          <p:cNvPr name="Group 5" id="5"/>
          <p:cNvGrpSpPr/>
          <p:nvPr/>
        </p:nvGrpSpPr>
        <p:grpSpPr>
          <a:xfrm rot="0">
            <a:off x="4993239" y="9735839"/>
            <a:ext cx="3313153" cy="331315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9D9D9"/>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pSp>
        <p:nvGrpSpPr>
          <p:cNvPr name="Group 8" id="8"/>
          <p:cNvGrpSpPr/>
          <p:nvPr/>
        </p:nvGrpSpPr>
        <p:grpSpPr>
          <a:xfrm rot="0">
            <a:off x="16175015" y="1583005"/>
            <a:ext cx="745387" cy="74538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aphicFrame>
        <p:nvGraphicFramePr>
          <p:cNvPr name="Object 11" id="11"/>
          <p:cNvGraphicFramePr/>
          <p:nvPr/>
        </p:nvGraphicFramePr>
        <p:xfrm>
          <a:off x="1537234" y="2989504"/>
          <a:ext cx="9744075" cy="4400550"/>
        </p:xfrm>
        <a:graphic>
          <a:graphicData uri="http://schemas.openxmlformats.org/presentationml/2006/ole">
            <p:oleObj imgW="11696700" imgH="63500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12" id="12"/>
          <p:cNvSpPr txBox="true"/>
          <p:nvPr/>
        </p:nvSpPr>
        <p:spPr>
          <a:xfrm rot="0">
            <a:off x="1537234" y="1803298"/>
            <a:ext cx="14361277" cy="984834"/>
          </a:xfrm>
          <a:prstGeom prst="rect">
            <a:avLst/>
          </a:prstGeom>
        </p:spPr>
        <p:txBody>
          <a:bodyPr anchor="t" rtlCol="false" tIns="0" lIns="0" bIns="0" rIns="0">
            <a:spAutoFit/>
          </a:bodyPr>
          <a:lstStyle/>
          <a:p>
            <a:pPr algn="l">
              <a:lnSpc>
                <a:spcPts val="7667"/>
              </a:lnSpc>
              <a:spcBef>
                <a:spcPct val="0"/>
              </a:spcBef>
            </a:pPr>
            <a:r>
              <a:rPr lang="en-US" b="true" sz="5477">
                <a:solidFill>
                  <a:srgbClr val="000000"/>
                </a:solidFill>
                <a:latin typeface="Poppins Bold"/>
                <a:ea typeface="Poppins Bold"/>
                <a:cs typeface="Poppins Bold"/>
                <a:sym typeface="Poppins Bold"/>
              </a:rPr>
              <a:t>COMP</a:t>
            </a:r>
            <a:r>
              <a:rPr lang="en-US" b="true" sz="5477">
                <a:solidFill>
                  <a:srgbClr val="000000"/>
                </a:solidFill>
                <a:latin typeface="Poppins Bold"/>
                <a:ea typeface="Poppins Bold"/>
                <a:cs typeface="Poppins Bold"/>
                <a:sym typeface="Poppins Bold"/>
              </a:rPr>
              <a:t>ETENCIAS DEL PERFIL DE EGRESO</a:t>
            </a:r>
          </a:p>
        </p:txBody>
      </p:sp>
      <p:sp>
        <p:nvSpPr>
          <p:cNvPr name="Freeform 13" id="13"/>
          <p:cNvSpPr/>
          <p:nvPr/>
        </p:nvSpPr>
        <p:spPr>
          <a:xfrm flipH="false" flipV="false" rot="0">
            <a:off x="13397356" y="249377"/>
            <a:ext cx="4738244" cy="1184561"/>
          </a:xfrm>
          <a:custGeom>
            <a:avLst/>
            <a:gdLst/>
            <a:ahLst/>
            <a:cxnLst/>
            <a:rect r="r" b="b" t="t" l="l"/>
            <a:pathLst>
              <a:path h="1184561" w="4738244">
                <a:moveTo>
                  <a:pt x="0" y="0"/>
                </a:moveTo>
                <a:lnTo>
                  <a:pt x="4738244" y="0"/>
                </a:lnTo>
                <a:lnTo>
                  <a:pt x="4738244" y="1184561"/>
                </a:lnTo>
                <a:lnTo>
                  <a:pt x="0" y="1184561"/>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433938"/>
            <a:ext cx="17259300" cy="8853062"/>
            <a:chOff x="0" y="0"/>
            <a:chExt cx="4545659" cy="2331671"/>
          </a:xfrm>
        </p:grpSpPr>
        <p:sp>
          <p:nvSpPr>
            <p:cNvPr name="Freeform 3" id="3"/>
            <p:cNvSpPr/>
            <p:nvPr/>
          </p:nvSpPr>
          <p:spPr>
            <a:xfrm flipH="false" flipV="false" rot="0">
              <a:off x="0" y="0"/>
              <a:ext cx="4545659" cy="2331670"/>
            </a:xfrm>
            <a:custGeom>
              <a:avLst/>
              <a:gdLst/>
              <a:ahLst/>
              <a:cxnLst/>
              <a:rect r="r" b="b" t="t" l="l"/>
              <a:pathLst>
                <a:path h="2331670" w="4545659">
                  <a:moveTo>
                    <a:pt x="0" y="0"/>
                  </a:moveTo>
                  <a:lnTo>
                    <a:pt x="4545659" y="0"/>
                  </a:lnTo>
                  <a:lnTo>
                    <a:pt x="4545659" y="2331670"/>
                  </a:lnTo>
                  <a:lnTo>
                    <a:pt x="0" y="2331670"/>
                  </a:lnTo>
                  <a:close/>
                </a:path>
              </a:pathLst>
            </a:custGeom>
            <a:solidFill>
              <a:srgbClr val="021E45"/>
            </a:solidFill>
          </p:spPr>
        </p:sp>
        <p:sp>
          <p:nvSpPr>
            <p:cNvPr name="TextBox 4" id="4"/>
            <p:cNvSpPr txBox="true"/>
            <p:nvPr/>
          </p:nvSpPr>
          <p:spPr>
            <a:xfrm>
              <a:off x="0" y="-57150"/>
              <a:ext cx="4545659" cy="2388821"/>
            </a:xfrm>
            <a:prstGeom prst="rect">
              <a:avLst/>
            </a:prstGeom>
          </p:spPr>
          <p:txBody>
            <a:bodyPr anchor="ctr" rtlCol="false" tIns="50800" lIns="50800" bIns="50800" rIns="50800"/>
            <a:lstStyle/>
            <a:p>
              <a:pPr algn="ctr">
                <a:lnSpc>
                  <a:spcPts val="2734"/>
                </a:lnSpc>
              </a:pPr>
            </a:p>
          </p:txBody>
        </p:sp>
      </p:grpSp>
      <p:grpSp>
        <p:nvGrpSpPr>
          <p:cNvPr name="Group 5" id="5"/>
          <p:cNvGrpSpPr/>
          <p:nvPr/>
        </p:nvGrpSpPr>
        <p:grpSpPr>
          <a:xfrm rot="0">
            <a:off x="451361" y="3248318"/>
            <a:ext cx="5224302" cy="522430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000" t="0" r="-25000" b="0"/>
              </a:stretch>
            </a:blipFill>
            <a:ln cap="sq">
              <a:noFill/>
              <a:prstDash val="solid"/>
              <a:miter/>
            </a:ln>
          </p:spPr>
        </p:sp>
      </p:grpSp>
      <p:sp>
        <p:nvSpPr>
          <p:cNvPr name="Freeform 7" id="7"/>
          <p:cNvSpPr/>
          <p:nvPr/>
        </p:nvSpPr>
        <p:spPr>
          <a:xfrm flipH="false" flipV="false" rot="0">
            <a:off x="13397356" y="249377"/>
            <a:ext cx="4738244" cy="1184561"/>
          </a:xfrm>
          <a:custGeom>
            <a:avLst/>
            <a:gdLst/>
            <a:ahLst/>
            <a:cxnLst/>
            <a:rect r="r" b="b" t="t" l="l"/>
            <a:pathLst>
              <a:path h="1184561" w="4738244">
                <a:moveTo>
                  <a:pt x="0" y="0"/>
                </a:moveTo>
                <a:lnTo>
                  <a:pt x="4738244" y="0"/>
                </a:lnTo>
                <a:lnTo>
                  <a:pt x="4738244" y="1184561"/>
                </a:lnTo>
                <a:lnTo>
                  <a:pt x="0" y="1184561"/>
                </a:lnTo>
                <a:lnTo>
                  <a:pt x="0" y="0"/>
                </a:lnTo>
                <a:close/>
              </a:path>
            </a:pathLst>
          </a:custGeom>
          <a:blipFill>
            <a:blip r:embed="rId3"/>
            <a:stretch>
              <a:fillRect l="0" t="0" r="0" b="0"/>
            </a:stretch>
          </a:blipFill>
        </p:spPr>
      </p:sp>
      <p:sp>
        <p:nvSpPr>
          <p:cNvPr name="TextBox 8" id="8"/>
          <p:cNvSpPr txBox="true"/>
          <p:nvPr/>
        </p:nvSpPr>
        <p:spPr>
          <a:xfrm rot="0">
            <a:off x="6651309" y="2215566"/>
            <a:ext cx="11028879" cy="2927934"/>
          </a:xfrm>
          <a:prstGeom prst="rect">
            <a:avLst/>
          </a:prstGeom>
        </p:spPr>
        <p:txBody>
          <a:bodyPr anchor="t" rtlCol="false" tIns="0" lIns="0" bIns="0" rIns="0">
            <a:spAutoFit/>
          </a:bodyPr>
          <a:lstStyle/>
          <a:p>
            <a:pPr algn="l">
              <a:lnSpc>
                <a:spcPts val="7667"/>
              </a:lnSpc>
            </a:pPr>
          </a:p>
          <a:p>
            <a:pPr algn="l">
              <a:lnSpc>
                <a:spcPts val="7667"/>
              </a:lnSpc>
              <a:spcBef>
                <a:spcPct val="0"/>
              </a:spcBef>
            </a:pPr>
            <a:r>
              <a:rPr lang="en-US" b="true" sz="5477">
                <a:solidFill>
                  <a:srgbClr val="FFFFFF"/>
                </a:solidFill>
                <a:latin typeface="Poppins Bold"/>
                <a:ea typeface="Poppins Bold"/>
                <a:cs typeface="Poppins Bold"/>
                <a:sym typeface="Poppins Bold"/>
              </a:rPr>
              <a:t>I</a:t>
            </a:r>
            <a:r>
              <a:rPr lang="en-US" b="true" sz="5477">
                <a:solidFill>
                  <a:srgbClr val="FFFFFF"/>
                </a:solidFill>
                <a:latin typeface="Poppins Bold"/>
                <a:ea typeface="Poppins Bold"/>
                <a:cs typeface="Poppins Bold"/>
                <a:sym typeface="Poppins Bold"/>
              </a:rPr>
              <a:t>NTERESES PROFESIONALES</a:t>
            </a:r>
          </a:p>
          <a:p>
            <a:pPr algn="l">
              <a:lnSpc>
                <a:spcPts val="7667"/>
              </a:lnSpc>
              <a:spcBef>
                <a:spcPct val="0"/>
              </a:spcBef>
            </a:pPr>
          </a:p>
        </p:txBody>
      </p:sp>
      <p:sp>
        <p:nvSpPr>
          <p:cNvPr name="TextBox 9" id="9"/>
          <p:cNvSpPr txBox="true"/>
          <p:nvPr/>
        </p:nvSpPr>
        <p:spPr>
          <a:xfrm rot="0">
            <a:off x="6651309" y="4382585"/>
            <a:ext cx="9115169" cy="4461510"/>
          </a:xfrm>
          <a:prstGeom prst="rect">
            <a:avLst/>
          </a:prstGeom>
        </p:spPr>
        <p:txBody>
          <a:bodyPr anchor="t" rtlCol="false" tIns="0" lIns="0" bIns="0" rIns="0">
            <a:spAutoFit/>
          </a:bodyPr>
          <a:lstStyle/>
          <a:p>
            <a:pPr algn="just">
              <a:lnSpc>
                <a:spcPts val="2939"/>
              </a:lnSpc>
            </a:pPr>
            <a:r>
              <a:rPr lang="en-US" sz="2099">
                <a:solidFill>
                  <a:srgbClr val="FFFFFF"/>
                </a:solidFill>
                <a:latin typeface="Poppins"/>
                <a:ea typeface="Poppins"/>
                <a:cs typeface="Poppins"/>
                <a:sym typeface="Poppins"/>
              </a:rPr>
              <a:t>El equipo orientó este proyecto hacia áreas de desarrollo de software que son de su interés, definiendo una arquitectura que integra backend, frontend, base de datos, seguridad e infraestructura cloud. P</a:t>
            </a:r>
            <a:r>
              <a:rPr lang="en-US" sz="2099">
                <a:solidFill>
                  <a:srgbClr val="FFFFFF"/>
                </a:solidFill>
                <a:latin typeface="Poppins"/>
                <a:ea typeface="Poppins"/>
                <a:cs typeface="Poppins"/>
                <a:sym typeface="Poppins"/>
              </a:rPr>
              <a:t>ara</a:t>
            </a:r>
            <a:r>
              <a:rPr lang="en-US" sz="2099">
                <a:solidFill>
                  <a:srgbClr val="FFFFFF"/>
                </a:solidFill>
                <a:latin typeface="Poppins"/>
                <a:ea typeface="Poppins"/>
                <a:cs typeface="Poppins"/>
                <a:sym typeface="Poppins"/>
              </a:rPr>
              <a:t> </a:t>
            </a:r>
            <a:r>
              <a:rPr lang="en-US" sz="2099">
                <a:solidFill>
                  <a:srgbClr val="FFFFFF"/>
                </a:solidFill>
                <a:latin typeface="Poppins"/>
                <a:ea typeface="Poppins"/>
                <a:cs typeface="Poppins"/>
                <a:sym typeface="Poppins"/>
              </a:rPr>
              <a:t>el</a:t>
            </a:r>
            <a:r>
              <a:rPr lang="en-US" sz="2099">
                <a:solidFill>
                  <a:srgbClr val="FFFFFF"/>
                </a:solidFill>
                <a:latin typeface="Poppins"/>
                <a:ea typeface="Poppins"/>
                <a:cs typeface="Poppins"/>
                <a:sym typeface="Poppins"/>
              </a:rPr>
              <a:t> despliegue del MVP se optó por DigitalOcean, dejando el sistema preparado para incorporar en el futuro nuevas capacidades, como la conexión con WhatsApp o el uso de inteligencia artificial, sin que estas formen parte de la primera entrega del proyecto.</a:t>
            </a:r>
          </a:p>
          <a:p>
            <a:pPr algn="just">
              <a:lnSpc>
                <a:spcPts val="2939"/>
              </a:lnSpc>
            </a:pPr>
          </a:p>
          <a:p>
            <a:pPr algn="just">
              <a:lnSpc>
                <a:spcPts val="2939"/>
              </a:lnSpc>
            </a:pPr>
          </a:p>
          <a:p>
            <a:pPr algn="just">
              <a:lnSpc>
                <a:spcPts val="2939"/>
              </a:lnSpc>
            </a:pPr>
          </a:p>
          <a:p>
            <a:pPr algn="just">
              <a:lnSpc>
                <a:spcPts val="293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433938"/>
            <a:ext cx="6172200" cy="8033912"/>
          </a:xfrm>
          <a:custGeom>
            <a:avLst/>
            <a:gdLst/>
            <a:ahLst/>
            <a:cxnLst/>
            <a:rect r="r" b="b" t="t" l="l"/>
            <a:pathLst>
              <a:path h="8033912" w="6172200">
                <a:moveTo>
                  <a:pt x="0" y="0"/>
                </a:moveTo>
                <a:lnTo>
                  <a:pt x="6172200" y="0"/>
                </a:lnTo>
                <a:lnTo>
                  <a:pt x="6172200" y="8033912"/>
                </a:lnTo>
                <a:lnTo>
                  <a:pt x="0" y="8033912"/>
                </a:lnTo>
                <a:lnTo>
                  <a:pt x="0" y="0"/>
                </a:lnTo>
                <a:close/>
              </a:path>
            </a:pathLst>
          </a:custGeom>
          <a:blipFill>
            <a:blip r:embed="rId2"/>
            <a:stretch>
              <a:fillRect l="-36775" t="0" r="-36775" b="0"/>
            </a:stretch>
          </a:blipFill>
        </p:spPr>
      </p:sp>
      <p:grpSp>
        <p:nvGrpSpPr>
          <p:cNvPr name="Group 3" id="3"/>
          <p:cNvGrpSpPr/>
          <p:nvPr/>
        </p:nvGrpSpPr>
        <p:grpSpPr>
          <a:xfrm rot="0">
            <a:off x="7200900" y="1433938"/>
            <a:ext cx="10058400" cy="8033912"/>
            <a:chOff x="0" y="0"/>
            <a:chExt cx="2649126" cy="2115927"/>
          </a:xfrm>
        </p:grpSpPr>
        <p:sp>
          <p:nvSpPr>
            <p:cNvPr name="Freeform 4" id="4"/>
            <p:cNvSpPr/>
            <p:nvPr/>
          </p:nvSpPr>
          <p:spPr>
            <a:xfrm flipH="false" flipV="false" rot="0">
              <a:off x="0" y="0"/>
              <a:ext cx="2649126" cy="2115927"/>
            </a:xfrm>
            <a:custGeom>
              <a:avLst/>
              <a:gdLst/>
              <a:ahLst/>
              <a:cxnLst/>
              <a:rect r="r" b="b" t="t" l="l"/>
              <a:pathLst>
                <a:path h="2115927" w="2649126">
                  <a:moveTo>
                    <a:pt x="0" y="0"/>
                  </a:moveTo>
                  <a:lnTo>
                    <a:pt x="2649126" y="0"/>
                  </a:lnTo>
                  <a:lnTo>
                    <a:pt x="2649126" y="2115927"/>
                  </a:lnTo>
                  <a:lnTo>
                    <a:pt x="0" y="2115927"/>
                  </a:lnTo>
                  <a:close/>
                </a:path>
              </a:pathLst>
            </a:custGeom>
            <a:solidFill>
              <a:srgbClr val="021E45"/>
            </a:solidFill>
          </p:spPr>
        </p:sp>
        <p:sp>
          <p:nvSpPr>
            <p:cNvPr name="TextBox 5" id="5"/>
            <p:cNvSpPr txBox="true"/>
            <p:nvPr/>
          </p:nvSpPr>
          <p:spPr>
            <a:xfrm>
              <a:off x="0" y="-57150"/>
              <a:ext cx="2649126" cy="2173077"/>
            </a:xfrm>
            <a:prstGeom prst="rect">
              <a:avLst/>
            </a:prstGeom>
          </p:spPr>
          <p:txBody>
            <a:bodyPr anchor="ctr" rtlCol="false" tIns="50800" lIns="50800" bIns="50800" rIns="50800"/>
            <a:lstStyle/>
            <a:p>
              <a:pPr algn="ctr">
                <a:lnSpc>
                  <a:spcPts val="2734"/>
                </a:lnSpc>
              </a:pPr>
            </a:p>
          </p:txBody>
        </p:sp>
      </p:grpSp>
      <p:sp>
        <p:nvSpPr>
          <p:cNvPr name="TextBox 6" id="6"/>
          <p:cNvSpPr txBox="true"/>
          <p:nvPr/>
        </p:nvSpPr>
        <p:spPr>
          <a:xfrm rot="0">
            <a:off x="7851119" y="2480682"/>
            <a:ext cx="10284481" cy="859739"/>
          </a:xfrm>
          <a:prstGeom prst="rect">
            <a:avLst/>
          </a:prstGeom>
        </p:spPr>
        <p:txBody>
          <a:bodyPr anchor="t" rtlCol="false" tIns="0" lIns="0" bIns="0" rIns="0">
            <a:spAutoFit/>
          </a:bodyPr>
          <a:lstStyle/>
          <a:p>
            <a:pPr algn="l">
              <a:lnSpc>
                <a:spcPts val="6687"/>
              </a:lnSpc>
              <a:spcBef>
                <a:spcPct val="0"/>
              </a:spcBef>
            </a:pPr>
            <a:r>
              <a:rPr lang="en-US" b="true" sz="4777">
                <a:solidFill>
                  <a:srgbClr val="FFFFFF"/>
                </a:solidFill>
                <a:latin typeface="Poppins Bold"/>
                <a:ea typeface="Poppins Bold"/>
                <a:cs typeface="Poppins Bold"/>
                <a:sym typeface="Poppins Bold"/>
              </a:rPr>
              <a:t>FACTIBILIDAD DEL PROYECTO</a:t>
            </a:r>
          </a:p>
        </p:txBody>
      </p:sp>
      <p:sp>
        <p:nvSpPr>
          <p:cNvPr name="TextBox 7" id="7"/>
          <p:cNvSpPr txBox="true"/>
          <p:nvPr/>
        </p:nvSpPr>
        <p:spPr>
          <a:xfrm rot="0">
            <a:off x="7886213" y="4000511"/>
            <a:ext cx="8972571" cy="4235450"/>
          </a:xfrm>
          <a:prstGeom prst="rect">
            <a:avLst/>
          </a:prstGeom>
        </p:spPr>
        <p:txBody>
          <a:bodyPr anchor="t" rtlCol="false" tIns="0" lIns="0" bIns="0" rIns="0">
            <a:spAutoFit/>
          </a:bodyPr>
          <a:lstStyle/>
          <a:p>
            <a:pPr algn="just">
              <a:lnSpc>
                <a:spcPts val="2799"/>
              </a:lnSpc>
            </a:pPr>
            <a:r>
              <a:rPr lang="en-US" sz="1999">
                <a:solidFill>
                  <a:srgbClr val="FFFFFF"/>
                </a:solidFill>
                <a:latin typeface="Poppins"/>
                <a:ea typeface="Poppins"/>
                <a:cs typeface="Poppins"/>
                <a:sym typeface="Poppins"/>
              </a:rPr>
              <a:t>El proyecto es factible porque se redujo deliberadamente el alcance mediante Pareto y MVP. La primera entrega no intentará resolver toda la gestión de Soporte: se concentrará en Base de Conocimiento + Procedimientos/Checklists + acceso interno básico. WhatsApp, autoservicio, recepción de equipos, tickets omnicanal, inventario y otras integraciones quedan fuera del MVP.</a:t>
            </a:r>
          </a:p>
          <a:p>
            <a:pPr algn="just">
              <a:lnSpc>
                <a:spcPts val="2799"/>
              </a:lnSpc>
            </a:pPr>
          </a:p>
          <a:p>
            <a:pPr algn="just">
              <a:lnSpc>
                <a:spcPts val="2799"/>
              </a:lnSpc>
            </a:pPr>
            <a:r>
              <a:rPr lang="en-US" sz="1999">
                <a:solidFill>
                  <a:srgbClr val="FFFFFF"/>
                </a:solidFill>
                <a:latin typeface="Poppins"/>
                <a:ea typeface="Poppins"/>
                <a:cs typeface="Poppins"/>
                <a:sym typeface="Poppins"/>
              </a:rPr>
              <a:t>Además, existe conocimiento real disponible en una planilla de errores y experiencia operacional del equipo, lo que permite trabajar con información del contexto real. El cronograma distribuye Discovery, diseño, desarrollo, pruebas y cierre durante el semestre.</a:t>
            </a:r>
          </a:p>
          <a:p>
            <a:pPr algn="just">
              <a:lnSpc>
                <a:spcPts val="2799"/>
              </a:lnSpc>
            </a:pPr>
          </a:p>
        </p:txBody>
      </p:sp>
      <p:sp>
        <p:nvSpPr>
          <p:cNvPr name="Freeform 8" id="8"/>
          <p:cNvSpPr/>
          <p:nvPr/>
        </p:nvSpPr>
        <p:spPr>
          <a:xfrm flipH="false" flipV="false" rot="0">
            <a:off x="13397356" y="249377"/>
            <a:ext cx="4738244" cy="1184561"/>
          </a:xfrm>
          <a:custGeom>
            <a:avLst/>
            <a:gdLst/>
            <a:ahLst/>
            <a:cxnLst/>
            <a:rect r="r" b="b" t="t" l="l"/>
            <a:pathLst>
              <a:path h="1184561" w="4738244">
                <a:moveTo>
                  <a:pt x="0" y="0"/>
                </a:moveTo>
                <a:lnTo>
                  <a:pt x="4738244" y="0"/>
                </a:lnTo>
                <a:lnTo>
                  <a:pt x="4738244" y="1184561"/>
                </a:lnTo>
                <a:lnTo>
                  <a:pt x="0" y="1184561"/>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058654" y="5267173"/>
            <a:ext cx="14875542" cy="95250"/>
            <a:chOff x="0" y="0"/>
            <a:chExt cx="19834056" cy="127000"/>
          </a:xfrm>
        </p:grpSpPr>
        <p:sp>
          <p:nvSpPr>
            <p:cNvPr name="Freeform 3" id="3"/>
            <p:cNvSpPr/>
            <p:nvPr/>
          </p:nvSpPr>
          <p:spPr>
            <a:xfrm flipH="false" flipV="false" rot="0">
              <a:off x="63500" y="0"/>
              <a:ext cx="19707098" cy="127000"/>
            </a:xfrm>
            <a:custGeom>
              <a:avLst/>
              <a:gdLst/>
              <a:ahLst/>
              <a:cxnLst/>
              <a:rect r="r" b="b" t="t" l="l"/>
              <a:pathLst>
                <a:path h="127000" w="19707098">
                  <a:moveTo>
                    <a:pt x="0" y="0"/>
                  </a:moveTo>
                  <a:lnTo>
                    <a:pt x="19707098" y="0"/>
                  </a:lnTo>
                  <a:lnTo>
                    <a:pt x="19707098" y="127000"/>
                  </a:lnTo>
                  <a:lnTo>
                    <a:pt x="0" y="127000"/>
                  </a:lnTo>
                  <a:close/>
                </a:path>
              </a:pathLst>
            </a:custGeom>
            <a:solidFill>
              <a:srgbClr val="021E45"/>
            </a:solidFill>
          </p:spPr>
        </p:sp>
      </p:grpSp>
      <p:sp>
        <p:nvSpPr>
          <p:cNvPr name="TextBox 4" id="4"/>
          <p:cNvSpPr txBox="true"/>
          <p:nvPr/>
        </p:nvSpPr>
        <p:spPr>
          <a:xfrm rot="0">
            <a:off x="6004341" y="2302515"/>
            <a:ext cx="6279317" cy="859739"/>
          </a:xfrm>
          <a:prstGeom prst="rect">
            <a:avLst/>
          </a:prstGeom>
        </p:spPr>
        <p:txBody>
          <a:bodyPr anchor="t" rtlCol="false" tIns="0" lIns="0" bIns="0" rIns="0">
            <a:spAutoFit/>
          </a:bodyPr>
          <a:lstStyle/>
          <a:p>
            <a:pPr algn="ctr">
              <a:lnSpc>
                <a:spcPts val="6687"/>
              </a:lnSpc>
              <a:spcBef>
                <a:spcPct val="0"/>
              </a:spcBef>
            </a:pPr>
            <a:r>
              <a:rPr lang="en-US" b="true" sz="4777">
                <a:solidFill>
                  <a:srgbClr val="000000"/>
                </a:solidFill>
                <a:latin typeface="Poppins Bold"/>
                <a:ea typeface="Poppins Bold"/>
                <a:cs typeface="Poppins Bold"/>
                <a:sym typeface="Poppins Bold"/>
              </a:rPr>
              <a:t>OBJETIVO GENERAL</a:t>
            </a:r>
          </a:p>
        </p:txBody>
      </p:sp>
      <p:sp>
        <p:nvSpPr>
          <p:cNvPr name="TextBox 5" id="5"/>
          <p:cNvSpPr txBox="true"/>
          <p:nvPr/>
        </p:nvSpPr>
        <p:spPr>
          <a:xfrm rot="0">
            <a:off x="5450532" y="5743423"/>
            <a:ext cx="7386935" cy="859739"/>
          </a:xfrm>
          <a:prstGeom prst="rect">
            <a:avLst/>
          </a:prstGeom>
        </p:spPr>
        <p:txBody>
          <a:bodyPr anchor="t" rtlCol="false" tIns="0" lIns="0" bIns="0" rIns="0">
            <a:spAutoFit/>
          </a:bodyPr>
          <a:lstStyle/>
          <a:p>
            <a:pPr algn="ctr">
              <a:lnSpc>
                <a:spcPts val="6687"/>
              </a:lnSpc>
              <a:spcBef>
                <a:spcPct val="0"/>
              </a:spcBef>
            </a:pPr>
            <a:r>
              <a:rPr lang="en-US" b="true" sz="4777">
                <a:solidFill>
                  <a:srgbClr val="000000"/>
                </a:solidFill>
                <a:latin typeface="Poppins Bold"/>
                <a:ea typeface="Poppins Bold"/>
                <a:cs typeface="Poppins Bold"/>
                <a:sym typeface="Poppins Bold"/>
              </a:rPr>
              <a:t>OBJETIVOS ESPECÍFICOS</a:t>
            </a:r>
          </a:p>
        </p:txBody>
      </p:sp>
      <p:sp>
        <p:nvSpPr>
          <p:cNvPr name="TextBox 6" id="6"/>
          <p:cNvSpPr txBox="true"/>
          <p:nvPr/>
        </p:nvSpPr>
        <p:spPr>
          <a:xfrm rot="0">
            <a:off x="2839987" y="3600404"/>
            <a:ext cx="12608027" cy="1172845"/>
          </a:xfrm>
          <a:prstGeom prst="rect">
            <a:avLst/>
          </a:prstGeom>
        </p:spPr>
        <p:txBody>
          <a:bodyPr anchor="t" rtlCol="false" tIns="0" lIns="0" bIns="0" rIns="0">
            <a:spAutoFit/>
          </a:bodyPr>
          <a:lstStyle/>
          <a:p>
            <a:pPr algn="just">
              <a:lnSpc>
                <a:spcPts val="3079"/>
              </a:lnSpc>
            </a:pPr>
            <a:r>
              <a:rPr lang="en-US" sz="2199">
                <a:solidFill>
                  <a:srgbClr val="000000"/>
                </a:solidFill>
                <a:latin typeface="Poppins"/>
                <a:ea typeface="Poppins"/>
                <a:cs typeface="Poppins"/>
                <a:sym typeface="Poppins"/>
              </a:rPr>
              <a:t>Diseña</a:t>
            </a:r>
            <a:r>
              <a:rPr lang="en-US" sz="2199">
                <a:solidFill>
                  <a:srgbClr val="000000"/>
                </a:solidFill>
                <a:latin typeface="Poppins"/>
                <a:ea typeface="Poppins"/>
                <a:cs typeface="Poppins"/>
                <a:sym typeface="Poppins"/>
              </a:rPr>
              <a:t>r y desarrollar un MVP que centralice el conocimiento técnico de Soporte TI y estandarice procedimientos recurrentes, disminuyendo la depende</a:t>
            </a:r>
            <a:r>
              <a:rPr lang="en-US" sz="2199">
                <a:solidFill>
                  <a:srgbClr val="000000"/>
                </a:solidFill>
                <a:latin typeface="Poppins"/>
                <a:ea typeface="Poppins"/>
                <a:cs typeface="Poppins"/>
                <a:sym typeface="Poppins"/>
              </a:rPr>
              <a:t>ncia de la memoria individual y el riesgo de omisiones.</a:t>
            </a:r>
          </a:p>
        </p:txBody>
      </p:sp>
      <p:sp>
        <p:nvSpPr>
          <p:cNvPr name="TextBox 7" id="7"/>
          <p:cNvSpPr txBox="true"/>
          <p:nvPr/>
        </p:nvSpPr>
        <p:spPr>
          <a:xfrm rot="0">
            <a:off x="2839987" y="6546012"/>
            <a:ext cx="12608027" cy="3515995"/>
          </a:xfrm>
          <a:prstGeom prst="rect">
            <a:avLst/>
          </a:prstGeom>
        </p:spPr>
        <p:txBody>
          <a:bodyPr anchor="t" rtlCol="false" tIns="0" lIns="0" bIns="0" rIns="0">
            <a:spAutoFit/>
          </a:bodyPr>
          <a:lstStyle/>
          <a:p>
            <a:pPr algn="just">
              <a:lnSpc>
                <a:spcPts val="3079"/>
              </a:lnSpc>
            </a:pPr>
          </a:p>
          <a:p>
            <a:pPr algn="just" marL="474978" indent="-237489" lvl="1">
              <a:lnSpc>
                <a:spcPts val="3079"/>
              </a:lnSpc>
              <a:buFont typeface="Arial"/>
              <a:buChar char="•"/>
            </a:pPr>
            <a:r>
              <a:rPr lang="en-US" sz="2199">
                <a:solidFill>
                  <a:srgbClr val="000000"/>
                </a:solidFill>
                <a:latin typeface="Poppins"/>
                <a:ea typeface="Poppins"/>
                <a:cs typeface="Poppins"/>
                <a:sym typeface="Poppins"/>
              </a:rPr>
              <a:t>Centraliza</a:t>
            </a:r>
            <a:r>
              <a:rPr lang="en-US" sz="2199">
                <a:solidFill>
                  <a:srgbClr val="000000"/>
                </a:solidFill>
                <a:latin typeface="Poppins"/>
                <a:ea typeface="Poppins"/>
                <a:cs typeface="Poppins"/>
                <a:sym typeface="Poppins"/>
              </a:rPr>
              <a:t>r soluciones técnicas utilizando una estructura común de síntoma, pruebas, causa y solución.</a:t>
            </a:r>
          </a:p>
          <a:p>
            <a:pPr algn="just" marL="474978" indent="-237489" lvl="1">
              <a:lnSpc>
                <a:spcPts val="3079"/>
              </a:lnSpc>
              <a:buFont typeface="Arial"/>
              <a:buChar char="•"/>
            </a:pPr>
            <a:r>
              <a:rPr lang="en-US" sz="2199">
                <a:solidFill>
                  <a:srgbClr val="000000"/>
                </a:solidFill>
                <a:latin typeface="Poppins"/>
                <a:ea typeface="Poppins"/>
                <a:cs typeface="Poppins"/>
                <a:sym typeface="Poppins"/>
              </a:rPr>
              <a:t>Facilitar la búsqueda y reutilización del conocimiento generado por el equipo de Soporte.</a:t>
            </a:r>
          </a:p>
          <a:p>
            <a:pPr algn="just" marL="474978" indent="-237489" lvl="1">
              <a:lnSpc>
                <a:spcPts val="3079"/>
              </a:lnSpc>
              <a:buFont typeface="Arial"/>
              <a:buChar char="•"/>
            </a:pPr>
            <a:r>
              <a:rPr lang="en-US" sz="2199">
                <a:solidFill>
                  <a:srgbClr val="000000"/>
                </a:solidFill>
                <a:latin typeface="Poppins"/>
                <a:ea typeface="Poppins"/>
                <a:cs typeface="Poppins"/>
                <a:sym typeface="Poppins"/>
              </a:rPr>
              <a:t>Estandarizar procedimientos recurrentes mediante pasos ordenados y checklists.</a:t>
            </a:r>
          </a:p>
          <a:p>
            <a:pPr algn="just" marL="474978" indent="-237489" lvl="1">
              <a:lnSpc>
                <a:spcPts val="3079"/>
              </a:lnSpc>
              <a:buFont typeface="Arial"/>
              <a:buChar char="•"/>
            </a:pPr>
            <a:r>
              <a:rPr lang="en-US" sz="2199">
                <a:solidFill>
                  <a:srgbClr val="000000"/>
                </a:solidFill>
                <a:latin typeface="Poppins"/>
                <a:ea typeface="Poppins"/>
                <a:cs typeface="Poppins"/>
                <a:sym typeface="Poppins"/>
              </a:rPr>
              <a:t>Mantener trazabilidad bás</a:t>
            </a:r>
            <a:r>
              <a:rPr lang="en-US" sz="2199">
                <a:solidFill>
                  <a:srgbClr val="000000"/>
                </a:solidFill>
                <a:latin typeface="Poppins"/>
                <a:ea typeface="Poppins"/>
                <a:cs typeface="Poppins"/>
                <a:sym typeface="Poppins"/>
              </a:rPr>
              <a:t>ica de la creación y modificación del conocimiento.</a:t>
            </a:r>
          </a:p>
          <a:p>
            <a:pPr algn="just" marL="474978" indent="-237489" lvl="1">
              <a:lnSpc>
                <a:spcPts val="3079"/>
              </a:lnSpc>
              <a:buFont typeface="Arial"/>
              <a:buChar char="•"/>
            </a:pPr>
            <a:r>
              <a:rPr lang="en-US" sz="2199">
                <a:solidFill>
                  <a:srgbClr val="000000"/>
                </a:solidFill>
                <a:latin typeface="Poppins"/>
                <a:ea typeface="Poppins"/>
                <a:cs typeface="Poppins"/>
                <a:sym typeface="Poppins"/>
              </a:rPr>
              <a:t>Validar el MVP con usuarios del área de Soporte y registrar oportunidades de mejora.</a:t>
            </a:r>
          </a:p>
          <a:p>
            <a:pPr algn="just">
              <a:lnSpc>
                <a:spcPts val="3079"/>
              </a:lnSpc>
            </a:pPr>
          </a:p>
        </p:txBody>
      </p:sp>
      <p:sp>
        <p:nvSpPr>
          <p:cNvPr name="Freeform 8" id="8"/>
          <p:cNvSpPr/>
          <p:nvPr/>
        </p:nvSpPr>
        <p:spPr>
          <a:xfrm flipH="false" flipV="false" rot="0">
            <a:off x="13397356" y="249377"/>
            <a:ext cx="4738244" cy="1184561"/>
          </a:xfrm>
          <a:custGeom>
            <a:avLst/>
            <a:gdLst/>
            <a:ahLst/>
            <a:cxnLst/>
            <a:rect r="r" b="b" t="t" l="l"/>
            <a:pathLst>
              <a:path h="1184561" w="4738244">
                <a:moveTo>
                  <a:pt x="0" y="0"/>
                </a:moveTo>
                <a:lnTo>
                  <a:pt x="4738244" y="0"/>
                </a:lnTo>
                <a:lnTo>
                  <a:pt x="4738244" y="1184561"/>
                </a:lnTo>
                <a:lnTo>
                  <a:pt x="0" y="1184561"/>
                </a:lnTo>
                <a:lnTo>
                  <a:pt x="0" y="0"/>
                </a:lnTo>
                <a:close/>
              </a:path>
            </a:pathLst>
          </a:custGeom>
          <a:blipFill>
            <a:blip r:embed="rId2"/>
            <a:stretch>
              <a:fillRect l="0" t="0" r="0" b="0"/>
            </a:stretch>
          </a:blipFill>
        </p:spPr>
      </p:sp>
      <p:grpSp>
        <p:nvGrpSpPr>
          <p:cNvPr name="Group 9" id="9"/>
          <p:cNvGrpSpPr/>
          <p:nvPr/>
        </p:nvGrpSpPr>
        <p:grpSpPr>
          <a:xfrm rot="0">
            <a:off x="-933044" y="-1712367"/>
            <a:ext cx="3923489" cy="392348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pSp>
        <p:nvGrpSpPr>
          <p:cNvPr name="Group 12" id="12"/>
          <p:cNvGrpSpPr/>
          <p:nvPr/>
        </p:nvGrpSpPr>
        <p:grpSpPr>
          <a:xfrm rot="0">
            <a:off x="3898420" y="614583"/>
            <a:ext cx="1108349" cy="110834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433938"/>
            <a:ext cx="17259300" cy="8853062"/>
            <a:chOff x="0" y="0"/>
            <a:chExt cx="4545659" cy="2331671"/>
          </a:xfrm>
        </p:grpSpPr>
        <p:sp>
          <p:nvSpPr>
            <p:cNvPr name="Freeform 3" id="3"/>
            <p:cNvSpPr/>
            <p:nvPr/>
          </p:nvSpPr>
          <p:spPr>
            <a:xfrm flipH="false" flipV="false" rot="0">
              <a:off x="0" y="0"/>
              <a:ext cx="4545659" cy="2331670"/>
            </a:xfrm>
            <a:custGeom>
              <a:avLst/>
              <a:gdLst/>
              <a:ahLst/>
              <a:cxnLst/>
              <a:rect r="r" b="b" t="t" l="l"/>
              <a:pathLst>
                <a:path h="2331670" w="4545659">
                  <a:moveTo>
                    <a:pt x="0" y="0"/>
                  </a:moveTo>
                  <a:lnTo>
                    <a:pt x="4545659" y="0"/>
                  </a:lnTo>
                  <a:lnTo>
                    <a:pt x="4545659" y="2331670"/>
                  </a:lnTo>
                  <a:lnTo>
                    <a:pt x="0" y="2331670"/>
                  </a:lnTo>
                  <a:close/>
                </a:path>
              </a:pathLst>
            </a:custGeom>
            <a:solidFill>
              <a:srgbClr val="021E45"/>
            </a:solidFill>
          </p:spPr>
        </p:sp>
        <p:sp>
          <p:nvSpPr>
            <p:cNvPr name="TextBox 4" id="4"/>
            <p:cNvSpPr txBox="true"/>
            <p:nvPr/>
          </p:nvSpPr>
          <p:spPr>
            <a:xfrm>
              <a:off x="0" y="-57150"/>
              <a:ext cx="4545659" cy="2388821"/>
            </a:xfrm>
            <a:prstGeom prst="rect">
              <a:avLst/>
            </a:prstGeom>
          </p:spPr>
          <p:txBody>
            <a:bodyPr anchor="ctr" rtlCol="false" tIns="50800" lIns="50800" bIns="50800" rIns="50800"/>
            <a:lstStyle/>
            <a:p>
              <a:pPr algn="ctr">
                <a:lnSpc>
                  <a:spcPts val="2734"/>
                </a:lnSpc>
              </a:pPr>
            </a:p>
          </p:txBody>
        </p:sp>
      </p:grpSp>
      <p:sp>
        <p:nvSpPr>
          <p:cNvPr name="TextBox 5" id="5"/>
          <p:cNvSpPr txBox="true"/>
          <p:nvPr/>
        </p:nvSpPr>
        <p:spPr>
          <a:xfrm rot="0">
            <a:off x="6651309" y="2561802"/>
            <a:ext cx="10249847" cy="1956384"/>
          </a:xfrm>
          <a:prstGeom prst="rect">
            <a:avLst/>
          </a:prstGeom>
        </p:spPr>
        <p:txBody>
          <a:bodyPr anchor="t" rtlCol="false" tIns="0" lIns="0" bIns="0" rIns="0">
            <a:spAutoFit/>
          </a:bodyPr>
          <a:lstStyle/>
          <a:p>
            <a:pPr algn="l">
              <a:lnSpc>
                <a:spcPts val="7667"/>
              </a:lnSpc>
              <a:spcBef>
                <a:spcPct val="0"/>
              </a:spcBef>
            </a:pPr>
            <a:r>
              <a:rPr lang="en-US" b="true" sz="5477">
                <a:solidFill>
                  <a:srgbClr val="FFFFFF"/>
                </a:solidFill>
                <a:latin typeface="Poppins Bold"/>
                <a:ea typeface="Poppins Bold"/>
                <a:cs typeface="Poppins Bold"/>
                <a:sym typeface="Poppins Bold"/>
              </a:rPr>
              <a:t>PROPUESTA DE METODOLOGÍA DE TRABAJO</a:t>
            </a:r>
          </a:p>
        </p:txBody>
      </p:sp>
      <p:sp>
        <p:nvSpPr>
          <p:cNvPr name="TextBox 6" id="6"/>
          <p:cNvSpPr txBox="true"/>
          <p:nvPr/>
        </p:nvSpPr>
        <p:spPr>
          <a:xfrm rot="0">
            <a:off x="6651309" y="4858014"/>
            <a:ext cx="9758962" cy="4090035"/>
          </a:xfrm>
          <a:prstGeom prst="rect">
            <a:avLst/>
          </a:prstGeom>
        </p:spPr>
        <p:txBody>
          <a:bodyPr anchor="t" rtlCol="false" tIns="0" lIns="0" bIns="0" rIns="0">
            <a:spAutoFit/>
          </a:bodyPr>
          <a:lstStyle/>
          <a:p>
            <a:pPr algn="just">
              <a:lnSpc>
                <a:spcPts val="2939"/>
              </a:lnSpc>
            </a:pPr>
            <a:r>
              <a:rPr lang="en-US" sz="2099">
                <a:solidFill>
                  <a:srgbClr val="FFFFFF"/>
                </a:solidFill>
                <a:latin typeface="Poppins"/>
                <a:ea typeface="Poppins"/>
                <a:cs typeface="Poppins"/>
                <a:sym typeface="Poppins"/>
              </a:rPr>
              <a:t>Se propone un enfoque Ágil con Scrum para organizar el desarrollo incremental del producto. El Discovery utiliza además BPMN para comprender procesos AS-IS/TO-BE, BABOK para análisis de negocio y stakeholders, ISO/IEC/IEEE 29148 como referencia para ingeniería de requisitos e ISO/IEC 25010 para atributos preliminares de calidad.</a:t>
            </a:r>
          </a:p>
          <a:p>
            <a:pPr algn="just">
              <a:lnSpc>
                <a:spcPts val="2939"/>
              </a:lnSpc>
            </a:pPr>
          </a:p>
          <a:p>
            <a:pPr algn="just">
              <a:lnSpc>
                <a:spcPts val="2939"/>
              </a:lnSpc>
            </a:pPr>
            <a:r>
              <a:rPr lang="en-US" sz="2099">
                <a:solidFill>
                  <a:srgbClr val="FFFFFF"/>
                </a:solidFill>
                <a:latin typeface="Poppins"/>
                <a:ea typeface="Poppins"/>
                <a:cs typeface="Poppins"/>
                <a:sym typeface="Poppins"/>
              </a:rPr>
              <a:t>Scrum permitirá trabajar mediante backlog priorizado, iteraciones cort</a:t>
            </a:r>
            <a:r>
              <a:rPr lang="en-US" sz="2099">
                <a:solidFill>
                  <a:srgbClr val="FFFFFF"/>
                </a:solidFill>
                <a:latin typeface="Poppins"/>
                <a:ea typeface="Poppins"/>
                <a:cs typeface="Poppins"/>
                <a:sym typeface="Poppins"/>
              </a:rPr>
              <a:t>a</a:t>
            </a:r>
            <a:r>
              <a:rPr lang="en-US" sz="2099">
                <a:solidFill>
                  <a:srgbClr val="FFFFFF"/>
                </a:solidFill>
                <a:latin typeface="Poppins"/>
                <a:ea typeface="Poppins"/>
                <a:cs typeface="Poppins"/>
                <a:sym typeface="Poppins"/>
              </a:rPr>
              <a:t>s, revisión frecuente del incremento y adaptación según la validación del equipo de Soporte. MoSCoW y MVP se utilizan para controlar el alcance.</a:t>
            </a:r>
          </a:p>
          <a:p>
            <a:pPr algn="just">
              <a:lnSpc>
                <a:spcPts val="2939"/>
              </a:lnSpc>
              <a:spcBef>
                <a:spcPct val="0"/>
              </a:spcBef>
            </a:pPr>
          </a:p>
        </p:txBody>
      </p:sp>
      <p:grpSp>
        <p:nvGrpSpPr>
          <p:cNvPr name="Group 7" id="7"/>
          <p:cNvGrpSpPr/>
          <p:nvPr/>
        </p:nvGrpSpPr>
        <p:grpSpPr>
          <a:xfrm rot="0">
            <a:off x="451361" y="3248318"/>
            <a:ext cx="5224302" cy="522430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187" t="0" r="-25187" b="0"/>
              </a:stretch>
            </a:blipFill>
            <a:ln cap="sq">
              <a:noFill/>
              <a:prstDash val="solid"/>
              <a:miter/>
            </a:ln>
          </p:spPr>
        </p:sp>
      </p:grpSp>
      <p:sp>
        <p:nvSpPr>
          <p:cNvPr name="Freeform 9" id="9"/>
          <p:cNvSpPr/>
          <p:nvPr/>
        </p:nvSpPr>
        <p:spPr>
          <a:xfrm flipH="false" flipV="false" rot="0">
            <a:off x="13397356" y="249377"/>
            <a:ext cx="4738244" cy="1184561"/>
          </a:xfrm>
          <a:custGeom>
            <a:avLst/>
            <a:gdLst/>
            <a:ahLst/>
            <a:cxnLst/>
            <a:rect r="r" b="b" t="t" l="l"/>
            <a:pathLst>
              <a:path h="1184561" w="4738244">
                <a:moveTo>
                  <a:pt x="0" y="0"/>
                </a:moveTo>
                <a:lnTo>
                  <a:pt x="4738244" y="0"/>
                </a:lnTo>
                <a:lnTo>
                  <a:pt x="4738244" y="1184561"/>
                </a:lnTo>
                <a:lnTo>
                  <a:pt x="0" y="1184561"/>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6223000"/>
            <a:ext cx="18288000" cy="4064000"/>
            <a:chOff x="0" y="0"/>
            <a:chExt cx="18288000" cy="4064000"/>
          </a:xfrm>
        </p:grpSpPr>
        <p:sp>
          <p:nvSpPr>
            <p:cNvPr name="Freeform 3" id="3"/>
            <p:cNvSpPr/>
            <p:nvPr/>
          </p:nvSpPr>
          <p:spPr>
            <a:xfrm flipH="false" flipV="false" rot="0">
              <a:off x="0" y="653077"/>
              <a:ext cx="18288000" cy="3410923"/>
            </a:xfrm>
            <a:custGeom>
              <a:avLst/>
              <a:gdLst/>
              <a:ahLst/>
              <a:cxnLst/>
              <a:rect r="r" b="b" t="t" l="l"/>
              <a:pathLst>
                <a:path h="3410923" w="18288000">
                  <a:moveTo>
                    <a:pt x="0" y="1790949"/>
                  </a:moveTo>
                  <a:cubicBezTo>
                    <a:pt x="3048000" y="1790949"/>
                    <a:pt x="3048000" y="0"/>
                    <a:pt x="6096000" y="0"/>
                  </a:cubicBezTo>
                  <a:cubicBezTo>
                    <a:pt x="9144000" y="0"/>
                    <a:pt x="9144000" y="2718011"/>
                    <a:pt x="12192000" y="2718011"/>
                  </a:cubicBezTo>
                  <a:cubicBezTo>
                    <a:pt x="15240000" y="2718011"/>
                    <a:pt x="15240000" y="1164174"/>
                    <a:pt x="18288000" y="1164174"/>
                  </a:cubicBezTo>
                  <a:lnTo>
                    <a:pt x="18288000" y="3410923"/>
                  </a:lnTo>
                  <a:lnTo>
                    <a:pt x="0" y="3410923"/>
                  </a:lnTo>
                  <a:close/>
                </a:path>
              </a:pathLst>
            </a:custGeom>
            <a:solidFill>
              <a:srgbClr val="D9D9D9"/>
            </a:solidFill>
          </p:spPr>
        </p:sp>
      </p:grpSp>
      <p:sp>
        <p:nvSpPr>
          <p:cNvPr name="TextBox 4" id="4"/>
          <p:cNvSpPr txBox="true"/>
          <p:nvPr/>
        </p:nvSpPr>
        <p:spPr>
          <a:xfrm rot="0">
            <a:off x="4688283" y="1467395"/>
            <a:ext cx="8911434" cy="984834"/>
          </a:xfrm>
          <a:prstGeom prst="rect">
            <a:avLst/>
          </a:prstGeom>
        </p:spPr>
        <p:txBody>
          <a:bodyPr anchor="t" rtlCol="false" tIns="0" lIns="0" bIns="0" rIns="0">
            <a:spAutoFit/>
          </a:bodyPr>
          <a:lstStyle/>
          <a:p>
            <a:pPr algn="ctr">
              <a:lnSpc>
                <a:spcPts val="7667"/>
              </a:lnSpc>
              <a:spcBef>
                <a:spcPct val="0"/>
              </a:spcBef>
            </a:pPr>
            <a:r>
              <a:rPr lang="en-US" b="true" sz="5477">
                <a:solidFill>
                  <a:srgbClr val="000000"/>
                </a:solidFill>
                <a:latin typeface="Poppins Bold"/>
                <a:ea typeface="Poppins Bold"/>
                <a:cs typeface="Poppins Bold"/>
                <a:sym typeface="Poppins Bold"/>
              </a:rPr>
              <a:t>METODOLOGÍA - SCRUM</a:t>
            </a:r>
          </a:p>
        </p:txBody>
      </p:sp>
      <p:grpSp>
        <p:nvGrpSpPr>
          <p:cNvPr name="Group 5" id="5"/>
          <p:cNvGrpSpPr/>
          <p:nvPr/>
        </p:nvGrpSpPr>
        <p:grpSpPr>
          <a:xfrm rot="0">
            <a:off x="7534269" y="3584335"/>
            <a:ext cx="9725031" cy="4801734"/>
            <a:chOff x="0" y="0"/>
            <a:chExt cx="12966708" cy="6402312"/>
          </a:xfrm>
        </p:grpSpPr>
        <p:sp>
          <p:nvSpPr>
            <p:cNvPr name="Freeform 6" id="6"/>
            <p:cNvSpPr/>
            <p:nvPr/>
          </p:nvSpPr>
          <p:spPr>
            <a:xfrm flipH="false" flipV="false" rot="0">
              <a:off x="0" y="0"/>
              <a:ext cx="12966700" cy="6402324"/>
            </a:xfrm>
            <a:custGeom>
              <a:avLst/>
              <a:gdLst/>
              <a:ahLst/>
              <a:cxnLst/>
              <a:rect r="r" b="b" t="t" l="l"/>
              <a:pathLst>
                <a:path h="6402324" w="12966700">
                  <a:moveTo>
                    <a:pt x="0" y="0"/>
                  </a:moveTo>
                  <a:lnTo>
                    <a:pt x="12966700" y="0"/>
                  </a:lnTo>
                  <a:lnTo>
                    <a:pt x="12966700" y="6402324"/>
                  </a:lnTo>
                  <a:lnTo>
                    <a:pt x="0" y="6402324"/>
                  </a:lnTo>
                  <a:lnTo>
                    <a:pt x="0" y="0"/>
                  </a:lnTo>
                  <a:close/>
                </a:path>
              </a:pathLst>
            </a:custGeom>
            <a:blipFill>
              <a:blip r:embed="rId2"/>
              <a:stretch>
                <a:fillRect l="0" t="-17" r="0" b="-17"/>
              </a:stretch>
            </a:blipFill>
          </p:spPr>
        </p:sp>
      </p:grpSp>
      <p:sp>
        <p:nvSpPr>
          <p:cNvPr name="Freeform 7" id="7"/>
          <p:cNvSpPr/>
          <p:nvPr/>
        </p:nvSpPr>
        <p:spPr>
          <a:xfrm flipH="false" flipV="false" rot="0">
            <a:off x="13397356" y="249377"/>
            <a:ext cx="4738244" cy="1184561"/>
          </a:xfrm>
          <a:custGeom>
            <a:avLst/>
            <a:gdLst/>
            <a:ahLst/>
            <a:cxnLst/>
            <a:rect r="r" b="b" t="t" l="l"/>
            <a:pathLst>
              <a:path h="1184561" w="4738244">
                <a:moveTo>
                  <a:pt x="0" y="0"/>
                </a:moveTo>
                <a:lnTo>
                  <a:pt x="4738244" y="0"/>
                </a:lnTo>
                <a:lnTo>
                  <a:pt x="4738244" y="1184561"/>
                </a:lnTo>
                <a:lnTo>
                  <a:pt x="0" y="1184561"/>
                </a:lnTo>
                <a:lnTo>
                  <a:pt x="0" y="0"/>
                </a:lnTo>
                <a:close/>
              </a:path>
            </a:pathLst>
          </a:custGeom>
          <a:blipFill>
            <a:blip r:embed="rId3"/>
            <a:stretch>
              <a:fillRect l="0" t="0" r="0" b="0"/>
            </a:stretch>
          </a:blipFill>
        </p:spPr>
      </p:sp>
      <p:sp>
        <p:nvSpPr>
          <p:cNvPr name="Freeform 8" id="8"/>
          <p:cNvSpPr/>
          <p:nvPr/>
        </p:nvSpPr>
        <p:spPr>
          <a:xfrm flipH="false" flipV="false" rot="0">
            <a:off x="1028700" y="2750863"/>
            <a:ext cx="5744418" cy="2392637"/>
          </a:xfrm>
          <a:custGeom>
            <a:avLst/>
            <a:gdLst/>
            <a:ahLst/>
            <a:cxnLst/>
            <a:rect r="r" b="b" t="t" l="l"/>
            <a:pathLst>
              <a:path h="2392637" w="5744418">
                <a:moveTo>
                  <a:pt x="0" y="0"/>
                </a:moveTo>
                <a:lnTo>
                  <a:pt x="5744418" y="0"/>
                </a:lnTo>
                <a:lnTo>
                  <a:pt x="5744418" y="2392637"/>
                </a:lnTo>
                <a:lnTo>
                  <a:pt x="0" y="23926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028700" y="5143500"/>
            <a:ext cx="5744418" cy="2392637"/>
          </a:xfrm>
          <a:custGeom>
            <a:avLst/>
            <a:gdLst/>
            <a:ahLst/>
            <a:cxnLst/>
            <a:rect r="r" b="b" t="t" l="l"/>
            <a:pathLst>
              <a:path h="2392637" w="5744418">
                <a:moveTo>
                  <a:pt x="0" y="0"/>
                </a:moveTo>
                <a:lnTo>
                  <a:pt x="5744418" y="0"/>
                </a:lnTo>
                <a:lnTo>
                  <a:pt x="5744418" y="2392637"/>
                </a:lnTo>
                <a:lnTo>
                  <a:pt x="0" y="23926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28700" y="7536137"/>
            <a:ext cx="5744418" cy="2392637"/>
          </a:xfrm>
          <a:custGeom>
            <a:avLst/>
            <a:gdLst/>
            <a:ahLst/>
            <a:cxnLst/>
            <a:rect r="r" b="b" t="t" l="l"/>
            <a:pathLst>
              <a:path h="2392637" w="5744418">
                <a:moveTo>
                  <a:pt x="0" y="0"/>
                </a:moveTo>
                <a:lnTo>
                  <a:pt x="5744418" y="0"/>
                </a:lnTo>
                <a:lnTo>
                  <a:pt x="5744418" y="2392637"/>
                </a:lnTo>
                <a:lnTo>
                  <a:pt x="0" y="23926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210629" y="3137759"/>
            <a:ext cx="5561130" cy="1580745"/>
          </a:xfrm>
          <a:prstGeom prst="rect">
            <a:avLst/>
          </a:prstGeom>
        </p:spPr>
        <p:txBody>
          <a:bodyPr anchor="t" rtlCol="false" tIns="0" lIns="0" bIns="0" rIns="0">
            <a:spAutoFit/>
          </a:bodyPr>
          <a:lstStyle/>
          <a:p>
            <a:pPr algn="just">
              <a:lnSpc>
                <a:spcPts val="2192"/>
              </a:lnSpc>
              <a:spcBef>
                <a:spcPct val="0"/>
              </a:spcBef>
            </a:pPr>
            <a:r>
              <a:rPr lang="en-US" b="true" sz="1565">
                <a:solidFill>
                  <a:srgbClr val="FFFFFF"/>
                </a:solidFill>
                <a:latin typeface="Poppins Bold"/>
                <a:ea typeface="Poppins Bold"/>
                <a:cs typeface="Poppins Bold"/>
                <a:sym typeface="Poppins Bold"/>
              </a:rPr>
              <a:t>SPRINT 1: </a:t>
            </a:r>
            <a:r>
              <a:rPr lang="en-US" b="true" sz="1565">
                <a:solidFill>
                  <a:srgbClr val="FFFFFF"/>
                </a:solidFill>
                <a:latin typeface="Poppins Bold"/>
                <a:ea typeface="Poppins Bold"/>
                <a:cs typeface="Poppins Bold"/>
                <a:sym typeface="Poppins Bold"/>
              </a:rPr>
              <a:t>DISCOVERY Y DEFINICIÓN</a:t>
            </a:r>
          </a:p>
          <a:p>
            <a:pPr algn="just">
              <a:lnSpc>
                <a:spcPts val="2192"/>
              </a:lnSpc>
            </a:pPr>
          </a:p>
          <a:p>
            <a:pPr algn="just" marL="316494" indent="-158247" lvl="1">
              <a:lnSpc>
                <a:spcPts val="2052"/>
              </a:lnSpc>
              <a:buFont typeface="Arial"/>
              <a:buChar char="•"/>
            </a:pPr>
            <a:r>
              <a:rPr lang="en-US" sz="1465">
                <a:solidFill>
                  <a:srgbClr val="FFFFFF"/>
                </a:solidFill>
                <a:latin typeface="Poppins"/>
                <a:ea typeface="Poppins"/>
                <a:cs typeface="Poppins"/>
                <a:sym typeface="Poppins"/>
              </a:rPr>
              <a:t>Análisis de procesos AS-IS/TO-BE mediante BPMN.</a:t>
            </a:r>
          </a:p>
          <a:p>
            <a:pPr algn="just" marL="316494" indent="-158247" lvl="1">
              <a:lnSpc>
                <a:spcPts val="2052"/>
              </a:lnSpc>
              <a:buFont typeface="Arial"/>
              <a:buChar char="•"/>
            </a:pPr>
            <a:r>
              <a:rPr lang="en-US" sz="1465">
                <a:solidFill>
                  <a:srgbClr val="FFFFFF"/>
                </a:solidFill>
                <a:latin typeface="Poppins"/>
                <a:ea typeface="Poppins"/>
                <a:cs typeface="Poppins"/>
                <a:sym typeface="Poppins"/>
              </a:rPr>
              <a:t>Análisis de negocio y stakeholders con BABOK.</a:t>
            </a:r>
          </a:p>
          <a:p>
            <a:pPr algn="just" marL="316494" indent="-158247" lvl="1">
              <a:lnSpc>
                <a:spcPts val="2052"/>
              </a:lnSpc>
              <a:buFont typeface="Arial"/>
              <a:buChar char="•"/>
            </a:pPr>
            <a:r>
              <a:rPr lang="en-US" sz="1465">
                <a:solidFill>
                  <a:srgbClr val="FFFFFF"/>
                </a:solidFill>
                <a:latin typeface="Poppins"/>
                <a:ea typeface="Poppins"/>
                <a:cs typeface="Poppins"/>
                <a:sym typeface="Poppins"/>
              </a:rPr>
              <a:t>Ingeniería de requisitos según ISO/IEC/IEEE 29148.</a:t>
            </a:r>
          </a:p>
          <a:p>
            <a:pPr algn="just" marL="316494" indent="-158247" lvl="1">
              <a:lnSpc>
                <a:spcPts val="2052"/>
              </a:lnSpc>
              <a:buFont typeface="Arial"/>
              <a:buChar char="•"/>
            </a:pPr>
            <a:r>
              <a:rPr lang="en-US" sz="1465">
                <a:solidFill>
                  <a:srgbClr val="FFFFFF"/>
                </a:solidFill>
                <a:latin typeface="Poppins"/>
                <a:ea typeface="Poppins"/>
                <a:cs typeface="Poppins"/>
                <a:sym typeface="Poppins"/>
              </a:rPr>
              <a:t>Atributos preliminares de calidad según ISO/IEC 25010.</a:t>
            </a:r>
          </a:p>
        </p:txBody>
      </p:sp>
      <p:sp>
        <p:nvSpPr>
          <p:cNvPr name="TextBox 12" id="12"/>
          <p:cNvSpPr txBox="true"/>
          <p:nvPr/>
        </p:nvSpPr>
        <p:spPr>
          <a:xfrm rot="0">
            <a:off x="1210629" y="5400675"/>
            <a:ext cx="5561130" cy="2112876"/>
          </a:xfrm>
          <a:prstGeom prst="rect">
            <a:avLst/>
          </a:prstGeom>
        </p:spPr>
        <p:txBody>
          <a:bodyPr anchor="t" rtlCol="false" tIns="0" lIns="0" bIns="0" rIns="0">
            <a:spAutoFit/>
          </a:bodyPr>
          <a:lstStyle/>
          <a:p>
            <a:pPr algn="just">
              <a:lnSpc>
                <a:spcPts val="2192"/>
              </a:lnSpc>
              <a:spcBef>
                <a:spcPct val="0"/>
              </a:spcBef>
            </a:pPr>
            <a:r>
              <a:rPr lang="en-US" b="true" sz="1565">
                <a:solidFill>
                  <a:srgbClr val="FFFFFF"/>
                </a:solidFill>
                <a:latin typeface="Poppins Bold"/>
                <a:ea typeface="Poppins Bold"/>
                <a:cs typeface="Poppins Bold"/>
                <a:sym typeface="Poppins Bold"/>
              </a:rPr>
              <a:t>SPRINT 2: PLANIFICACIÓN Y EJECUCIÓN SCRUM</a:t>
            </a:r>
          </a:p>
          <a:p>
            <a:pPr algn="just">
              <a:lnSpc>
                <a:spcPts val="2192"/>
              </a:lnSpc>
            </a:pPr>
          </a:p>
          <a:p>
            <a:pPr algn="just" marL="316494" indent="-158247" lvl="1">
              <a:lnSpc>
                <a:spcPts val="2052"/>
              </a:lnSpc>
              <a:buFont typeface="Arial"/>
              <a:buChar char="•"/>
            </a:pPr>
            <a:r>
              <a:rPr lang="en-US" sz="1465">
                <a:solidFill>
                  <a:srgbClr val="FFFFFF"/>
                </a:solidFill>
                <a:latin typeface="Poppins"/>
                <a:ea typeface="Poppins"/>
                <a:cs typeface="Poppins"/>
                <a:sym typeface="Poppins"/>
              </a:rPr>
              <a:t>Back</a:t>
            </a:r>
            <a:r>
              <a:rPr lang="en-US" sz="1465">
                <a:solidFill>
                  <a:srgbClr val="FFFFFF"/>
                </a:solidFill>
                <a:latin typeface="Poppins"/>
                <a:ea typeface="Poppins"/>
                <a:cs typeface="Poppins"/>
                <a:sym typeface="Poppins"/>
              </a:rPr>
              <a:t>log priorizado del producto.</a:t>
            </a:r>
          </a:p>
          <a:p>
            <a:pPr algn="just" marL="316494" indent="-158247" lvl="1">
              <a:lnSpc>
                <a:spcPts val="2052"/>
              </a:lnSpc>
              <a:buFont typeface="Arial"/>
              <a:buChar char="•"/>
            </a:pPr>
            <a:r>
              <a:rPr lang="en-US" sz="1465">
                <a:solidFill>
                  <a:srgbClr val="FFFFFF"/>
                </a:solidFill>
                <a:latin typeface="Poppins"/>
                <a:ea typeface="Poppins"/>
                <a:cs typeface="Poppins"/>
                <a:sym typeface="Poppins"/>
              </a:rPr>
              <a:t>Iteraciones cortas de desarrollo.</a:t>
            </a:r>
          </a:p>
          <a:p>
            <a:pPr algn="just" marL="316494" indent="-158247" lvl="1">
              <a:lnSpc>
                <a:spcPts val="2052"/>
              </a:lnSpc>
              <a:buFont typeface="Arial"/>
              <a:buChar char="•"/>
            </a:pPr>
            <a:r>
              <a:rPr lang="en-US" sz="1465">
                <a:solidFill>
                  <a:srgbClr val="FFFFFF"/>
                </a:solidFill>
                <a:latin typeface="Poppins"/>
                <a:ea typeface="Poppins"/>
                <a:cs typeface="Poppins"/>
                <a:sym typeface="Poppins"/>
              </a:rPr>
              <a:t>Revisión frecuente del incremento.</a:t>
            </a:r>
          </a:p>
          <a:p>
            <a:pPr algn="just" marL="316494" indent="-158247" lvl="1">
              <a:lnSpc>
                <a:spcPts val="2052"/>
              </a:lnSpc>
              <a:buFont typeface="Arial"/>
              <a:buChar char="•"/>
            </a:pPr>
            <a:r>
              <a:rPr lang="en-US" sz="1465">
                <a:solidFill>
                  <a:srgbClr val="FFFFFF"/>
                </a:solidFill>
                <a:latin typeface="Poppins"/>
                <a:ea typeface="Poppins"/>
                <a:cs typeface="Poppins"/>
                <a:sym typeface="Poppins"/>
              </a:rPr>
              <a:t>Adaptación según validación del equipo de Soporte.</a:t>
            </a:r>
          </a:p>
          <a:p>
            <a:pPr algn="just" marL="316494" indent="-158247" lvl="1">
              <a:lnSpc>
                <a:spcPts val="2052"/>
              </a:lnSpc>
              <a:buFont typeface="Arial"/>
              <a:buChar char="•"/>
            </a:pPr>
            <a:r>
              <a:rPr lang="en-US" sz="1465">
                <a:solidFill>
                  <a:srgbClr val="FFFFFF"/>
                </a:solidFill>
                <a:latin typeface="Poppins"/>
                <a:ea typeface="Poppins"/>
                <a:cs typeface="Poppins"/>
                <a:sym typeface="Poppins"/>
              </a:rPr>
              <a:t>Control de alcance mediante MoSCoW y enfoque MVP.</a:t>
            </a:r>
          </a:p>
          <a:p>
            <a:pPr algn="just">
              <a:lnSpc>
                <a:spcPts val="2192"/>
              </a:lnSpc>
            </a:pPr>
          </a:p>
        </p:txBody>
      </p:sp>
      <p:sp>
        <p:nvSpPr>
          <p:cNvPr name="TextBox 13" id="13"/>
          <p:cNvSpPr txBox="true"/>
          <p:nvPr/>
        </p:nvSpPr>
        <p:spPr>
          <a:xfrm rot="0">
            <a:off x="1210629" y="7745687"/>
            <a:ext cx="5394860" cy="2465301"/>
          </a:xfrm>
          <a:prstGeom prst="rect">
            <a:avLst/>
          </a:prstGeom>
        </p:spPr>
        <p:txBody>
          <a:bodyPr anchor="t" rtlCol="false" tIns="0" lIns="0" bIns="0" rIns="0">
            <a:spAutoFit/>
          </a:bodyPr>
          <a:lstStyle/>
          <a:p>
            <a:pPr algn="just">
              <a:lnSpc>
                <a:spcPts val="2192"/>
              </a:lnSpc>
              <a:spcBef>
                <a:spcPct val="0"/>
              </a:spcBef>
            </a:pPr>
            <a:r>
              <a:rPr lang="en-US" b="true" sz="1565">
                <a:solidFill>
                  <a:srgbClr val="FFFFFF"/>
                </a:solidFill>
                <a:latin typeface="Poppins Bold"/>
                <a:ea typeface="Poppins Bold"/>
                <a:cs typeface="Poppins Bold"/>
                <a:sym typeface="Poppins Bold"/>
              </a:rPr>
              <a:t>SPRINT 3: DISEÑO, DESARROLLO E INTEGRACIÓN</a:t>
            </a:r>
          </a:p>
          <a:p>
            <a:pPr algn="just">
              <a:lnSpc>
                <a:spcPts val="2192"/>
              </a:lnSpc>
            </a:pPr>
          </a:p>
          <a:p>
            <a:pPr algn="just" marL="316494" indent="-158247" lvl="1">
              <a:lnSpc>
                <a:spcPts val="2198"/>
              </a:lnSpc>
              <a:buFont typeface="Arial"/>
              <a:buChar char="•"/>
            </a:pPr>
            <a:r>
              <a:rPr lang="en-US" sz="1465">
                <a:solidFill>
                  <a:srgbClr val="FFFFFF"/>
                </a:solidFill>
                <a:latin typeface="Poppins"/>
                <a:ea typeface="Poppins"/>
                <a:cs typeface="Poppins"/>
                <a:sym typeface="Poppins"/>
              </a:rPr>
              <a:t>Diseñ</a:t>
            </a:r>
            <a:r>
              <a:rPr lang="en-US" sz="1465">
                <a:solidFill>
                  <a:srgbClr val="FFFFFF"/>
                </a:solidFill>
                <a:latin typeface="Poppins"/>
                <a:ea typeface="Poppins"/>
                <a:cs typeface="Poppins"/>
                <a:sym typeface="Poppins"/>
              </a:rPr>
              <a:t>o y arquitectura del sistema. (equipo completo)</a:t>
            </a:r>
          </a:p>
          <a:p>
            <a:pPr algn="just" marL="316494" indent="-158247" lvl="1">
              <a:lnSpc>
                <a:spcPts val="2198"/>
              </a:lnSpc>
              <a:buFont typeface="Arial"/>
              <a:buChar char="•"/>
            </a:pPr>
            <a:r>
              <a:rPr lang="en-US" sz="1465">
                <a:solidFill>
                  <a:srgbClr val="FFFFFF"/>
                </a:solidFill>
                <a:latin typeface="Poppins"/>
                <a:ea typeface="Poppins"/>
                <a:cs typeface="Poppins"/>
                <a:sym typeface="Poppins"/>
              </a:rPr>
              <a:t>Desarrollo backend y frontend en paralelo.</a:t>
            </a:r>
          </a:p>
          <a:p>
            <a:pPr algn="just" marL="316494" indent="-158247" lvl="1">
              <a:lnSpc>
                <a:spcPts val="2198"/>
              </a:lnSpc>
              <a:buFont typeface="Arial"/>
              <a:buChar char="•"/>
            </a:pPr>
            <a:r>
              <a:rPr lang="en-US" sz="1465">
                <a:solidFill>
                  <a:srgbClr val="FFFFFF"/>
                </a:solidFill>
                <a:latin typeface="Poppins"/>
                <a:ea typeface="Poppins"/>
                <a:cs typeface="Poppins"/>
                <a:sym typeface="Poppins"/>
              </a:rPr>
              <a:t>Integración frontend/backend y pruebas funcionales.</a:t>
            </a:r>
          </a:p>
          <a:p>
            <a:pPr algn="just" marL="316494" indent="-158247" lvl="1">
              <a:lnSpc>
                <a:spcPts val="2198"/>
              </a:lnSpc>
              <a:buFont typeface="Arial"/>
              <a:buChar char="•"/>
            </a:pPr>
            <a:r>
              <a:rPr lang="en-US" sz="1465">
                <a:solidFill>
                  <a:srgbClr val="FFFFFF"/>
                </a:solidFill>
                <a:latin typeface="Poppins"/>
                <a:ea typeface="Poppins"/>
                <a:cs typeface="Poppins"/>
                <a:sym typeface="Poppins"/>
              </a:rPr>
              <a:t>Documentación técnica y preparación de la presentación final.</a:t>
            </a:r>
          </a:p>
          <a:p>
            <a:pPr algn="just">
              <a:lnSpc>
                <a:spcPts val="2052"/>
              </a:lnSpc>
            </a:pPr>
          </a:p>
          <a:p>
            <a:pPr algn="just">
              <a:lnSpc>
                <a:spcPts val="2192"/>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09422" y="3406687"/>
            <a:ext cx="3473625" cy="347362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pSp>
        <p:nvGrpSpPr>
          <p:cNvPr name="Group 5" id="5"/>
          <p:cNvGrpSpPr/>
          <p:nvPr/>
        </p:nvGrpSpPr>
        <p:grpSpPr>
          <a:xfrm rot="0">
            <a:off x="16175015" y="5657792"/>
            <a:ext cx="3313153" cy="331315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9D9D9"/>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pSp>
        <p:nvGrpSpPr>
          <p:cNvPr name="Group 8" id="8"/>
          <p:cNvGrpSpPr/>
          <p:nvPr/>
        </p:nvGrpSpPr>
        <p:grpSpPr>
          <a:xfrm rot="0">
            <a:off x="16175015" y="1583005"/>
            <a:ext cx="745387" cy="74538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sp>
        <p:nvSpPr>
          <p:cNvPr name="Freeform 11" id="11"/>
          <p:cNvSpPr/>
          <p:nvPr/>
        </p:nvSpPr>
        <p:spPr>
          <a:xfrm flipH="false" flipV="false" rot="0">
            <a:off x="13397356" y="249377"/>
            <a:ext cx="4738244" cy="1184561"/>
          </a:xfrm>
          <a:custGeom>
            <a:avLst/>
            <a:gdLst/>
            <a:ahLst/>
            <a:cxnLst/>
            <a:rect r="r" b="b" t="t" l="l"/>
            <a:pathLst>
              <a:path h="1184561" w="4738244">
                <a:moveTo>
                  <a:pt x="0" y="0"/>
                </a:moveTo>
                <a:lnTo>
                  <a:pt x="4738244" y="0"/>
                </a:lnTo>
                <a:lnTo>
                  <a:pt x="4738244" y="1184561"/>
                </a:lnTo>
                <a:lnTo>
                  <a:pt x="0" y="1184561"/>
                </a:lnTo>
                <a:lnTo>
                  <a:pt x="0" y="0"/>
                </a:lnTo>
                <a:close/>
              </a:path>
            </a:pathLst>
          </a:custGeom>
          <a:blipFill>
            <a:blip r:embed="rId2"/>
            <a:stretch>
              <a:fillRect l="0" t="0" r="0" b="0"/>
            </a:stretch>
          </a:blipFill>
        </p:spPr>
      </p:sp>
      <p:sp>
        <p:nvSpPr>
          <p:cNvPr name="Freeform 12" id="12"/>
          <p:cNvSpPr/>
          <p:nvPr/>
        </p:nvSpPr>
        <p:spPr>
          <a:xfrm flipH="false" flipV="false" rot="0">
            <a:off x="2503414" y="1138494"/>
            <a:ext cx="12085254" cy="9038597"/>
          </a:xfrm>
          <a:custGeom>
            <a:avLst/>
            <a:gdLst/>
            <a:ahLst/>
            <a:cxnLst/>
            <a:rect r="r" b="b" t="t" l="l"/>
            <a:pathLst>
              <a:path h="9038597" w="12085254">
                <a:moveTo>
                  <a:pt x="0" y="0"/>
                </a:moveTo>
                <a:lnTo>
                  <a:pt x="12085254" y="0"/>
                </a:lnTo>
                <a:lnTo>
                  <a:pt x="12085254" y="9038597"/>
                </a:lnTo>
                <a:lnTo>
                  <a:pt x="0" y="9038597"/>
                </a:lnTo>
                <a:lnTo>
                  <a:pt x="0" y="0"/>
                </a:lnTo>
                <a:close/>
              </a:path>
            </a:pathLst>
          </a:custGeom>
          <a:blipFill>
            <a:blip r:embed="rId3"/>
            <a:stretch>
              <a:fillRect l="0" t="-98" r="0" b="-98"/>
            </a:stretch>
          </a:blipFill>
        </p:spPr>
      </p:sp>
      <p:sp>
        <p:nvSpPr>
          <p:cNvPr name="TextBox 13" id="13"/>
          <p:cNvSpPr txBox="true"/>
          <p:nvPr/>
        </p:nvSpPr>
        <p:spPr>
          <a:xfrm rot="0">
            <a:off x="227390" y="43866"/>
            <a:ext cx="14361277" cy="984834"/>
          </a:xfrm>
          <a:prstGeom prst="rect">
            <a:avLst/>
          </a:prstGeom>
        </p:spPr>
        <p:txBody>
          <a:bodyPr anchor="t" rtlCol="false" tIns="0" lIns="0" bIns="0" rIns="0">
            <a:spAutoFit/>
          </a:bodyPr>
          <a:lstStyle/>
          <a:p>
            <a:pPr algn="l">
              <a:lnSpc>
                <a:spcPts val="7667"/>
              </a:lnSpc>
              <a:spcBef>
                <a:spcPct val="0"/>
              </a:spcBef>
            </a:pPr>
            <a:r>
              <a:rPr lang="en-US" b="true" sz="5477">
                <a:solidFill>
                  <a:srgbClr val="000000"/>
                </a:solidFill>
                <a:latin typeface="Poppins Bold"/>
                <a:ea typeface="Poppins Bold"/>
                <a:cs typeface="Poppins Bold"/>
                <a:sym typeface="Poppins Bold"/>
              </a:rPr>
              <a:t>PL</a:t>
            </a:r>
            <a:r>
              <a:rPr lang="en-US" b="true" sz="5477">
                <a:solidFill>
                  <a:srgbClr val="000000"/>
                </a:solidFill>
                <a:latin typeface="Poppins Bold"/>
                <a:ea typeface="Poppins Bold"/>
                <a:cs typeface="Poppins Bold"/>
                <a:sym typeface="Poppins Bold"/>
              </a:rPr>
              <a:t>AN DE TRABAJO Y RESPONSABLES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59955" y="9737449"/>
            <a:ext cx="1859289" cy="185928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aphicFrame>
        <p:nvGraphicFramePr>
          <p:cNvPr name="Object 5" id="5"/>
          <p:cNvGraphicFramePr/>
          <p:nvPr/>
        </p:nvGraphicFramePr>
        <p:xfrm>
          <a:off x="1248899" y="2481602"/>
          <a:ext cx="9729788" cy="5657850"/>
        </p:xfrm>
        <a:graphic>
          <a:graphicData uri="http://schemas.openxmlformats.org/presentationml/2006/ole">
            <p:oleObj imgW="11671300" imgH="75946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pSp>
        <p:nvGrpSpPr>
          <p:cNvPr name="Group 6" id="6"/>
          <p:cNvGrpSpPr/>
          <p:nvPr/>
        </p:nvGrpSpPr>
        <p:grpSpPr>
          <a:xfrm rot="0">
            <a:off x="16978373" y="2027556"/>
            <a:ext cx="908091" cy="90809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sp>
        <p:nvSpPr>
          <p:cNvPr name="Freeform 9" id="9"/>
          <p:cNvSpPr/>
          <p:nvPr/>
        </p:nvSpPr>
        <p:spPr>
          <a:xfrm flipH="false" flipV="false" rot="0">
            <a:off x="13397356" y="249377"/>
            <a:ext cx="4738244" cy="1184561"/>
          </a:xfrm>
          <a:custGeom>
            <a:avLst/>
            <a:gdLst/>
            <a:ahLst/>
            <a:cxnLst/>
            <a:rect r="r" b="b" t="t" l="l"/>
            <a:pathLst>
              <a:path h="1184561" w="4738244">
                <a:moveTo>
                  <a:pt x="0" y="0"/>
                </a:moveTo>
                <a:lnTo>
                  <a:pt x="4738244" y="0"/>
                </a:lnTo>
                <a:lnTo>
                  <a:pt x="4738244" y="1184561"/>
                </a:lnTo>
                <a:lnTo>
                  <a:pt x="0" y="1184561"/>
                </a:lnTo>
                <a:lnTo>
                  <a:pt x="0" y="0"/>
                </a:lnTo>
                <a:close/>
              </a:path>
            </a:pathLst>
          </a:custGeom>
          <a:blipFill>
            <a:blip r:embed="rId4"/>
            <a:stretch>
              <a:fillRect l="0" t="0" r="0" b="0"/>
            </a:stretch>
          </a:blipFill>
        </p:spPr>
      </p:sp>
      <p:sp>
        <p:nvSpPr>
          <p:cNvPr name="TextBox 10" id="10"/>
          <p:cNvSpPr txBox="true"/>
          <p:nvPr/>
        </p:nvSpPr>
        <p:spPr>
          <a:xfrm rot="0">
            <a:off x="860463" y="493103"/>
            <a:ext cx="11799492" cy="918794"/>
          </a:xfrm>
          <a:prstGeom prst="rect">
            <a:avLst/>
          </a:prstGeom>
        </p:spPr>
        <p:txBody>
          <a:bodyPr anchor="t" rtlCol="false" tIns="0" lIns="0" bIns="0" rIns="0">
            <a:spAutoFit/>
          </a:bodyPr>
          <a:lstStyle/>
          <a:p>
            <a:pPr algn="ctr">
              <a:lnSpc>
                <a:spcPts val="7107"/>
              </a:lnSpc>
              <a:spcBef>
                <a:spcPct val="0"/>
              </a:spcBef>
            </a:pPr>
            <a:r>
              <a:rPr lang="en-US" b="true" sz="5077">
                <a:solidFill>
                  <a:srgbClr val="000000"/>
                </a:solidFill>
                <a:latin typeface="Poppins Bold"/>
                <a:ea typeface="Poppins Bold"/>
                <a:cs typeface="Poppins Bold"/>
                <a:sym typeface="Poppins Bold"/>
              </a:rPr>
              <a:t>HERRAMIENTA DE TRABAJO Y USO</a:t>
            </a:r>
          </a:p>
        </p:txBody>
      </p:sp>
      <p:sp>
        <p:nvSpPr>
          <p:cNvPr name="Freeform 11" id="11"/>
          <p:cNvSpPr/>
          <p:nvPr/>
        </p:nvSpPr>
        <p:spPr>
          <a:xfrm flipH="false" flipV="false" rot="0">
            <a:off x="358749" y="1433938"/>
            <a:ext cx="17509773" cy="9280180"/>
          </a:xfrm>
          <a:custGeom>
            <a:avLst/>
            <a:gdLst/>
            <a:ahLst/>
            <a:cxnLst/>
            <a:rect r="r" b="b" t="t" l="l"/>
            <a:pathLst>
              <a:path h="9280180" w="17509773">
                <a:moveTo>
                  <a:pt x="0" y="0"/>
                </a:moveTo>
                <a:lnTo>
                  <a:pt x="17509773" y="0"/>
                </a:lnTo>
                <a:lnTo>
                  <a:pt x="17509773" y="9280180"/>
                </a:lnTo>
                <a:lnTo>
                  <a:pt x="0" y="9280180"/>
                </a:lnTo>
                <a:lnTo>
                  <a:pt x="0" y="0"/>
                </a:lnTo>
                <a:close/>
              </a:path>
            </a:pathLst>
          </a:custGeom>
          <a:blipFill>
            <a:blip r:embed="rId5"/>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777283" y="9680068"/>
            <a:ext cx="3473625" cy="347362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pSp>
        <p:nvGrpSpPr>
          <p:cNvPr name="Group 5" id="5"/>
          <p:cNvGrpSpPr/>
          <p:nvPr/>
        </p:nvGrpSpPr>
        <p:grpSpPr>
          <a:xfrm rot="0">
            <a:off x="16175015" y="1583005"/>
            <a:ext cx="745387" cy="74538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sp>
        <p:nvSpPr>
          <p:cNvPr name="Freeform 8" id="8"/>
          <p:cNvSpPr/>
          <p:nvPr/>
        </p:nvSpPr>
        <p:spPr>
          <a:xfrm flipH="false" flipV="false" rot="0">
            <a:off x="13397356" y="249377"/>
            <a:ext cx="4738244" cy="1184561"/>
          </a:xfrm>
          <a:custGeom>
            <a:avLst/>
            <a:gdLst/>
            <a:ahLst/>
            <a:cxnLst/>
            <a:rect r="r" b="b" t="t" l="l"/>
            <a:pathLst>
              <a:path h="1184561" w="4738244">
                <a:moveTo>
                  <a:pt x="0" y="0"/>
                </a:moveTo>
                <a:lnTo>
                  <a:pt x="4738244" y="0"/>
                </a:lnTo>
                <a:lnTo>
                  <a:pt x="4738244" y="1184561"/>
                </a:lnTo>
                <a:lnTo>
                  <a:pt x="0" y="1184561"/>
                </a:lnTo>
                <a:lnTo>
                  <a:pt x="0" y="0"/>
                </a:lnTo>
                <a:close/>
              </a:path>
            </a:pathLst>
          </a:custGeom>
          <a:blipFill>
            <a:blip r:embed="rId2"/>
            <a:stretch>
              <a:fillRect l="0" t="0" r="0" b="0"/>
            </a:stretch>
          </a:blipFill>
        </p:spPr>
      </p:sp>
      <p:graphicFrame>
        <p:nvGraphicFramePr>
          <p:cNvPr name="Object 9" id="9"/>
          <p:cNvGraphicFramePr/>
          <p:nvPr/>
        </p:nvGraphicFramePr>
        <p:xfrm>
          <a:off x="1537234" y="3120128"/>
          <a:ext cx="9744075" cy="5657850"/>
        </p:xfrm>
        <a:graphic>
          <a:graphicData uri="http://schemas.openxmlformats.org/presentationml/2006/ole">
            <p:oleObj imgW="11696700" imgH="76073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0" id="10"/>
          <p:cNvSpPr txBox="true"/>
          <p:nvPr/>
        </p:nvSpPr>
        <p:spPr>
          <a:xfrm rot="0">
            <a:off x="1537234" y="1803298"/>
            <a:ext cx="14361277" cy="984834"/>
          </a:xfrm>
          <a:prstGeom prst="rect">
            <a:avLst/>
          </a:prstGeom>
        </p:spPr>
        <p:txBody>
          <a:bodyPr anchor="t" rtlCol="false" tIns="0" lIns="0" bIns="0" rIns="0">
            <a:spAutoFit/>
          </a:bodyPr>
          <a:lstStyle/>
          <a:p>
            <a:pPr algn="l">
              <a:lnSpc>
                <a:spcPts val="7667"/>
              </a:lnSpc>
              <a:spcBef>
                <a:spcPct val="0"/>
              </a:spcBef>
            </a:pPr>
            <a:r>
              <a:rPr lang="en-US" b="true" sz="5477">
                <a:solidFill>
                  <a:srgbClr val="000000"/>
                </a:solidFill>
                <a:latin typeface="Poppins Bold"/>
                <a:ea typeface="Poppins Bold"/>
                <a:cs typeface="Poppins Bold"/>
                <a:sym typeface="Poppins Bold"/>
              </a:rPr>
              <a:t>EVIDENCIAS Y JUSTIFICACIÓN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397356" y="249377"/>
            <a:ext cx="4738244" cy="1184561"/>
          </a:xfrm>
          <a:custGeom>
            <a:avLst/>
            <a:gdLst/>
            <a:ahLst/>
            <a:cxnLst/>
            <a:rect r="r" b="b" t="t" l="l"/>
            <a:pathLst>
              <a:path h="1184561" w="4738244">
                <a:moveTo>
                  <a:pt x="0" y="0"/>
                </a:moveTo>
                <a:lnTo>
                  <a:pt x="4738244" y="0"/>
                </a:lnTo>
                <a:lnTo>
                  <a:pt x="4738244" y="1184561"/>
                </a:lnTo>
                <a:lnTo>
                  <a:pt x="0" y="1184561"/>
                </a:lnTo>
                <a:lnTo>
                  <a:pt x="0" y="0"/>
                </a:lnTo>
                <a:close/>
              </a:path>
            </a:pathLst>
          </a:custGeom>
          <a:blipFill>
            <a:blip r:embed="rId2"/>
            <a:stretch>
              <a:fillRect l="0" t="0" r="0" b="0"/>
            </a:stretch>
          </a:blipFill>
        </p:spPr>
      </p:sp>
      <p:grpSp>
        <p:nvGrpSpPr>
          <p:cNvPr name="Group 3" id="3"/>
          <p:cNvGrpSpPr/>
          <p:nvPr/>
        </p:nvGrpSpPr>
        <p:grpSpPr>
          <a:xfrm rot="0">
            <a:off x="-933044" y="-1712367"/>
            <a:ext cx="3923489" cy="392348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pSp>
        <p:nvGrpSpPr>
          <p:cNvPr name="Group 6" id="6"/>
          <p:cNvGrpSpPr/>
          <p:nvPr/>
        </p:nvGrpSpPr>
        <p:grpSpPr>
          <a:xfrm rot="0">
            <a:off x="16705125" y="8704125"/>
            <a:ext cx="1108349" cy="110834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aphicFrame>
        <p:nvGraphicFramePr>
          <p:cNvPr name="Object 9" id="9"/>
          <p:cNvGraphicFramePr/>
          <p:nvPr/>
        </p:nvGraphicFramePr>
        <p:xfrm>
          <a:off x="1930021" y="2006115"/>
          <a:ext cx="7543800" cy="4400550"/>
        </p:xfrm>
        <a:graphic>
          <a:graphicData uri="http://schemas.openxmlformats.org/presentationml/2006/ole">
            <p:oleObj imgW="9042400" imgH="59055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0" id="10"/>
          <p:cNvSpPr txBox="true"/>
          <p:nvPr/>
        </p:nvSpPr>
        <p:spPr>
          <a:xfrm rot="0">
            <a:off x="5593639" y="895350"/>
            <a:ext cx="6279317" cy="859739"/>
          </a:xfrm>
          <a:prstGeom prst="rect">
            <a:avLst/>
          </a:prstGeom>
        </p:spPr>
        <p:txBody>
          <a:bodyPr anchor="t" rtlCol="false" tIns="0" lIns="0" bIns="0" rIns="0">
            <a:spAutoFit/>
          </a:bodyPr>
          <a:lstStyle/>
          <a:p>
            <a:pPr algn="ctr">
              <a:lnSpc>
                <a:spcPts val="6687"/>
              </a:lnSpc>
              <a:spcBef>
                <a:spcPct val="0"/>
              </a:spcBef>
            </a:pPr>
            <a:r>
              <a:rPr lang="en-US" b="true" sz="4777">
                <a:solidFill>
                  <a:srgbClr val="000000"/>
                </a:solidFill>
                <a:latin typeface="Poppins Bold"/>
                <a:ea typeface="Poppins Bold"/>
                <a:cs typeface="Poppins Bold"/>
                <a:sym typeface="Poppins Bold"/>
              </a:rPr>
              <a:t>MATRIZ RACI</a:t>
            </a:r>
          </a:p>
        </p:txBody>
      </p:sp>
      <p:sp>
        <p:nvSpPr>
          <p:cNvPr name="TextBox 11" id="11"/>
          <p:cNvSpPr txBox="true"/>
          <p:nvPr/>
        </p:nvSpPr>
        <p:spPr>
          <a:xfrm rot="0">
            <a:off x="2372929" y="8907860"/>
            <a:ext cx="12720737" cy="350440"/>
          </a:xfrm>
          <a:prstGeom prst="rect">
            <a:avLst/>
          </a:prstGeom>
        </p:spPr>
        <p:txBody>
          <a:bodyPr anchor="t" rtlCol="false" tIns="0" lIns="0" bIns="0" rIns="0">
            <a:spAutoFit/>
          </a:bodyPr>
          <a:lstStyle/>
          <a:p>
            <a:pPr algn="ctr">
              <a:lnSpc>
                <a:spcPts val="2734"/>
              </a:lnSpc>
              <a:spcBef>
                <a:spcPct val="0"/>
              </a:spcBef>
            </a:pPr>
            <a:r>
              <a:rPr lang="en-US" b="true" sz="1953" spc="669">
                <a:solidFill>
                  <a:srgbClr val="000000"/>
                </a:solidFill>
                <a:latin typeface="Poppins Bold"/>
                <a:ea typeface="Poppins Bold"/>
                <a:cs typeface="Poppins Bold"/>
                <a:sym typeface="Poppins Bold"/>
              </a:rPr>
              <a:t>R: RESPONSABLE · A: APRUEBA · C: CONSULTADO · I: INFORMADO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47276" y="8446276"/>
            <a:ext cx="1624047" cy="162404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pSp>
        <p:nvGrpSpPr>
          <p:cNvPr name="Group 5" id="5"/>
          <p:cNvGrpSpPr/>
          <p:nvPr/>
        </p:nvGrpSpPr>
        <p:grpSpPr>
          <a:xfrm rot="0">
            <a:off x="15688249" y="6893459"/>
            <a:ext cx="520334" cy="52033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sp>
        <p:nvSpPr>
          <p:cNvPr name="Freeform 8" id="8"/>
          <p:cNvSpPr/>
          <p:nvPr/>
        </p:nvSpPr>
        <p:spPr>
          <a:xfrm flipH="false" flipV="false" rot="0">
            <a:off x="13397356" y="249377"/>
            <a:ext cx="4738244" cy="1184561"/>
          </a:xfrm>
          <a:custGeom>
            <a:avLst/>
            <a:gdLst/>
            <a:ahLst/>
            <a:cxnLst/>
            <a:rect r="r" b="b" t="t" l="l"/>
            <a:pathLst>
              <a:path h="1184561" w="4738244">
                <a:moveTo>
                  <a:pt x="0" y="0"/>
                </a:moveTo>
                <a:lnTo>
                  <a:pt x="4738244" y="0"/>
                </a:lnTo>
                <a:lnTo>
                  <a:pt x="4738244" y="1184561"/>
                </a:lnTo>
                <a:lnTo>
                  <a:pt x="0" y="1184561"/>
                </a:lnTo>
                <a:lnTo>
                  <a:pt x="0" y="0"/>
                </a:lnTo>
                <a:close/>
              </a:path>
            </a:pathLst>
          </a:custGeom>
          <a:blipFill>
            <a:blip r:embed="rId2"/>
            <a:stretch>
              <a:fillRect l="0" t="0" r="0" b="0"/>
            </a:stretch>
          </a:blipFill>
        </p:spPr>
      </p:sp>
      <p:sp>
        <p:nvSpPr>
          <p:cNvPr name="Freeform 9" id="9">
            <a:hlinkClick r:id="rId4" tooltip="https://drive.google.com/file/d/13G00e2Hlx7dsd1fJ2yL4sOca7nnBI1YB/view?usp=drive_link"/>
          </p:cNvPr>
          <p:cNvSpPr/>
          <p:nvPr/>
        </p:nvSpPr>
        <p:spPr>
          <a:xfrm flipH="false" flipV="false" rot="0">
            <a:off x="1350179" y="2441760"/>
            <a:ext cx="12052501" cy="7628877"/>
          </a:xfrm>
          <a:custGeom>
            <a:avLst/>
            <a:gdLst/>
            <a:ahLst/>
            <a:cxnLst/>
            <a:rect r="r" b="b" t="t" l="l"/>
            <a:pathLst>
              <a:path h="7628877" w="12052501">
                <a:moveTo>
                  <a:pt x="0" y="0"/>
                </a:moveTo>
                <a:lnTo>
                  <a:pt x="12052501" y="0"/>
                </a:lnTo>
                <a:lnTo>
                  <a:pt x="12052501" y="7628877"/>
                </a:lnTo>
                <a:lnTo>
                  <a:pt x="0" y="7628877"/>
                </a:lnTo>
                <a:lnTo>
                  <a:pt x="0" y="0"/>
                </a:lnTo>
                <a:close/>
              </a:path>
            </a:pathLst>
          </a:custGeom>
          <a:blipFill>
            <a:blip r:embed="rId3"/>
            <a:stretch>
              <a:fillRect l="0" t="0" r="0" b="0"/>
            </a:stretch>
          </a:blipFill>
        </p:spPr>
      </p:sp>
      <p:sp>
        <p:nvSpPr>
          <p:cNvPr name="TextBox 10" id="10"/>
          <p:cNvSpPr txBox="true"/>
          <p:nvPr/>
        </p:nvSpPr>
        <p:spPr>
          <a:xfrm rot="0">
            <a:off x="1350179" y="1055225"/>
            <a:ext cx="13841981" cy="1386535"/>
          </a:xfrm>
          <a:prstGeom prst="rect">
            <a:avLst/>
          </a:prstGeom>
        </p:spPr>
        <p:txBody>
          <a:bodyPr anchor="t" rtlCol="false" tIns="0" lIns="0" bIns="0" rIns="0">
            <a:spAutoFit/>
          </a:bodyPr>
          <a:lstStyle/>
          <a:p>
            <a:pPr algn="l">
              <a:lnSpc>
                <a:spcPts val="10726"/>
              </a:lnSpc>
            </a:pPr>
            <a:r>
              <a:rPr lang="en-US" b="true" sz="7662" spc="720">
                <a:solidFill>
                  <a:srgbClr val="152540"/>
                </a:solidFill>
                <a:latin typeface="Poppins Bold"/>
                <a:ea typeface="Poppins Bold"/>
                <a:cs typeface="Poppins Bold"/>
                <a:sym typeface="Poppins Bold"/>
              </a:rPr>
              <a:t>DE BASE DE DATOS</a:t>
            </a:r>
          </a:p>
        </p:txBody>
      </p:sp>
      <p:sp>
        <p:nvSpPr>
          <p:cNvPr name="TextBox 11" id="11"/>
          <p:cNvSpPr txBox="true"/>
          <p:nvPr/>
        </p:nvSpPr>
        <p:spPr>
          <a:xfrm rot="0">
            <a:off x="1350179" y="237566"/>
            <a:ext cx="12317251" cy="1036735"/>
          </a:xfrm>
          <a:prstGeom prst="rect">
            <a:avLst/>
          </a:prstGeom>
        </p:spPr>
        <p:txBody>
          <a:bodyPr anchor="t" rtlCol="false" tIns="0" lIns="0" bIns="0" rIns="0">
            <a:spAutoFit/>
          </a:bodyPr>
          <a:lstStyle/>
          <a:p>
            <a:pPr algn="l">
              <a:lnSpc>
                <a:spcPts val="7957"/>
              </a:lnSpc>
            </a:pPr>
            <a:r>
              <a:rPr lang="en-US" sz="5683" spc="534">
                <a:solidFill>
                  <a:srgbClr val="152540"/>
                </a:solidFill>
                <a:latin typeface="Poppins"/>
                <a:ea typeface="Poppins"/>
                <a:cs typeface="Poppins"/>
                <a:sym typeface="Poppins"/>
              </a:rPr>
              <a:t>MODELO PRELIMINAR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397356" y="249377"/>
            <a:ext cx="4738244" cy="1184561"/>
          </a:xfrm>
          <a:custGeom>
            <a:avLst/>
            <a:gdLst/>
            <a:ahLst/>
            <a:cxnLst/>
            <a:rect r="r" b="b" t="t" l="l"/>
            <a:pathLst>
              <a:path h="1184561" w="4738244">
                <a:moveTo>
                  <a:pt x="0" y="0"/>
                </a:moveTo>
                <a:lnTo>
                  <a:pt x="4738244" y="0"/>
                </a:lnTo>
                <a:lnTo>
                  <a:pt x="4738244" y="1184561"/>
                </a:lnTo>
                <a:lnTo>
                  <a:pt x="0" y="1184561"/>
                </a:lnTo>
                <a:lnTo>
                  <a:pt x="0" y="0"/>
                </a:lnTo>
                <a:close/>
              </a:path>
            </a:pathLst>
          </a:custGeom>
          <a:blipFill>
            <a:blip r:embed="rId2"/>
            <a:stretch>
              <a:fillRect l="0" t="0" r="0" b="0"/>
            </a:stretch>
          </a:blipFill>
        </p:spPr>
      </p:sp>
      <p:graphicFrame>
        <p:nvGraphicFramePr>
          <p:cNvPr name="Object 3" id="3"/>
          <p:cNvGraphicFramePr/>
          <p:nvPr/>
        </p:nvGraphicFramePr>
        <p:xfrm>
          <a:off x="1067815" y="2011720"/>
          <a:ext cx="16230600" cy="7499503"/>
        </p:xfrm>
        <a:graphic>
          <a:graphicData uri="http://schemas.openxmlformats.org/presentationml/2006/ole">
            <p:oleObj imgW="19469100" imgH="10744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Freeform 4" id="4"/>
          <p:cNvSpPr/>
          <p:nvPr/>
        </p:nvSpPr>
        <p:spPr>
          <a:xfrm flipH="false" flipV="false" rot="755484">
            <a:off x="11387045" y="1787007"/>
            <a:ext cx="3640894" cy="3640894"/>
          </a:xfrm>
          <a:custGeom>
            <a:avLst/>
            <a:gdLst/>
            <a:ahLst/>
            <a:cxnLst/>
            <a:rect r="r" b="b" t="t" l="l"/>
            <a:pathLst>
              <a:path h="3640894" w="3640894">
                <a:moveTo>
                  <a:pt x="0" y="0"/>
                </a:moveTo>
                <a:lnTo>
                  <a:pt x="3640894" y="0"/>
                </a:lnTo>
                <a:lnTo>
                  <a:pt x="3640894" y="3640894"/>
                </a:lnTo>
                <a:lnTo>
                  <a:pt x="0" y="3640894"/>
                </a:lnTo>
                <a:lnTo>
                  <a:pt x="0" y="0"/>
                </a:lnTo>
                <a:close/>
              </a:path>
            </a:pathLst>
          </a:custGeom>
          <a:blipFill>
            <a:blip r:embed="rId5"/>
            <a:stretch>
              <a:fillRect l="0" t="0" r="0" b="0"/>
            </a:stretch>
          </a:blipFill>
        </p:spPr>
      </p:sp>
      <p:grpSp>
        <p:nvGrpSpPr>
          <p:cNvPr name="Group 5" id="5"/>
          <p:cNvGrpSpPr/>
          <p:nvPr/>
        </p:nvGrpSpPr>
        <p:grpSpPr>
          <a:xfrm rot="0">
            <a:off x="15635253" y="7634253"/>
            <a:ext cx="1624047" cy="162404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sp>
        <p:nvSpPr>
          <p:cNvPr name="Freeform 8" id="8"/>
          <p:cNvSpPr/>
          <p:nvPr/>
        </p:nvSpPr>
        <p:spPr>
          <a:xfrm flipH="false" flipV="false" rot="0">
            <a:off x="10902751" y="6181837"/>
            <a:ext cx="2953478" cy="3076463"/>
          </a:xfrm>
          <a:custGeom>
            <a:avLst/>
            <a:gdLst/>
            <a:ahLst/>
            <a:cxnLst/>
            <a:rect r="r" b="b" t="t" l="l"/>
            <a:pathLst>
              <a:path h="3076463" w="2953478">
                <a:moveTo>
                  <a:pt x="0" y="0"/>
                </a:moveTo>
                <a:lnTo>
                  <a:pt x="2953478" y="0"/>
                </a:lnTo>
                <a:lnTo>
                  <a:pt x="2953478" y="3076463"/>
                </a:lnTo>
                <a:lnTo>
                  <a:pt x="0" y="3076463"/>
                </a:lnTo>
                <a:lnTo>
                  <a:pt x="0" y="0"/>
                </a:lnTo>
                <a:close/>
              </a:path>
            </a:pathLst>
          </a:custGeom>
          <a:blipFill>
            <a:blip r:embed="rId6"/>
            <a:stretch>
              <a:fillRect l="-12920" t="-22217" r="-14385" b="0"/>
            </a:stretch>
          </a:blipFill>
        </p:spPr>
      </p:sp>
      <p:sp>
        <p:nvSpPr>
          <p:cNvPr name="TextBox 9" id="9"/>
          <p:cNvSpPr txBox="true"/>
          <p:nvPr/>
        </p:nvSpPr>
        <p:spPr>
          <a:xfrm rot="0">
            <a:off x="1028700" y="865321"/>
            <a:ext cx="9297208" cy="984834"/>
          </a:xfrm>
          <a:prstGeom prst="rect">
            <a:avLst/>
          </a:prstGeom>
        </p:spPr>
        <p:txBody>
          <a:bodyPr anchor="t" rtlCol="false" tIns="0" lIns="0" bIns="0" rIns="0">
            <a:spAutoFit/>
          </a:bodyPr>
          <a:lstStyle/>
          <a:p>
            <a:pPr algn="l">
              <a:lnSpc>
                <a:spcPts val="7667"/>
              </a:lnSpc>
              <a:spcBef>
                <a:spcPct val="0"/>
              </a:spcBef>
            </a:pPr>
            <a:r>
              <a:rPr lang="en-US" b="true" sz="5477">
                <a:solidFill>
                  <a:srgbClr val="000000"/>
                </a:solidFill>
                <a:latin typeface="Poppins Bold"/>
                <a:ea typeface="Poppins Bold"/>
                <a:cs typeface="Poppins Bold"/>
                <a:sym typeface="Poppins Bold"/>
              </a:rPr>
              <a:t>REQUISITOS FUNCIONALES</a:t>
            </a:r>
          </a:p>
        </p:txBody>
      </p:sp>
      <p:grpSp>
        <p:nvGrpSpPr>
          <p:cNvPr name="Group 10" id="10"/>
          <p:cNvGrpSpPr/>
          <p:nvPr/>
        </p:nvGrpSpPr>
        <p:grpSpPr>
          <a:xfrm rot="0">
            <a:off x="15120841" y="6697886"/>
            <a:ext cx="520334" cy="52033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397356" y="249377"/>
            <a:ext cx="4738244" cy="1184561"/>
          </a:xfrm>
          <a:custGeom>
            <a:avLst/>
            <a:gdLst/>
            <a:ahLst/>
            <a:cxnLst/>
            <a:rect r="r" b="b" t="t" l="l"/>
            <a:pathLst>
              <a:path h="1184561" w="4738244">
                <a:moveTo>
                  <a:pt x="0" y="0"/>
                </a:moveTo>
                <a:lnTo>
                  <a:pt x="4738244" y="0"/>
                </a:lnTo>
                <a:lnTo>
                  <a:pt x="4738244" y="1184561"/>
                </a:lnTo>
                <a:lnTo>
                  <a:pt x="0" y="1184561"/>
                </a:lnTo>
                <a:lnTo>
                  <a:pt x="0" y="0"/>
                </a:lnTo>
                <a:close/>
              </a:path>
            </a:pathLst>
          </a:custGeom>
          <a:blipFill>
            <a:blip r:embed="rId2"/>
            <a:stretch>
              <a:fillRect l="0" t="0" r="0" b="0"/>
            </a:stretch>
          </a:blipFill>
        </p:spPr>
      </p:sp>
      <p:graphicFrame>
        <p:nvGraphicFramePr>
          <p:cNvPr name="Object 3" id="3"/>
          <p:cNvGraphicFramePr/>
          <p:nvPr/>
        </p:nvGraphicFramePr>
        <p:xfrm>
          <a:off x="1028700" y="4134535"/>
          <a:ext cx="10576541" cy="8229600"/>
        </p:xfrm>
        <a:graphic>
          <a:graphicData uri="http://schemas.openxmlformats.org/presentationml/2006/ole">
            <p:oleObj imgW="12687300" imgH="10337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Freeform 4" id="4"/>
          <p:cNvSpPr/>
          <p:nvPr/>
        </p:nvSpPr>
        <p:spPr>
          <a:xfrm flipH="false" flipV="false" rot="0">
            <a:off x="13815995" y="7384573"/>
            <a:ext cx="4472005" cy="3030012"/>
          </a:xfrm>
          <a:custGeom>
            <a:avLst/>
            <a:gdLst/>
            <a:ahLst/>
            <a:cxnLst/>
            <a:rect r="r" b="b" t="t" l="l"/>
            <a:pathLst>
              <a:path h="3030012" w="4472005">
                <a:moveTo>
                  <a:pt x="0" y="0"/>
                </a:moveTo>
                <a:lnTo>
                  <a:pt x="4472005" y="0"/>
                </a:lnTo>
                <a:lnTo>
                  <a:pt x="4472005" y="3030011"/>
                </a:lnTo>
                <a:lnTo>
                  <a:pt x="0" y="3030011"/>
                </a:lnTo>
                <a:lnTo>
                  <a:pt x="0" y="0"/>
                </a:lnTo>
                <a:close/>
              </a:path>
            </a:pathLst>
          </a:custGeom>
          <a:blipFill>
            <a:blip r:embed="rId5"/>
            <a:stretch>
              <a:fillRect l="0" t="0" r="0" b="0"/>
            </a:stretch>
          </a:blipFill>
        </p:spPr>
      </p:sp>
      <p:grpSp>
        <p:nvGrpSpPr>
          <p:cNvPr name="Group 5" id="5"/>
          <p:cNvGrpSpPr/>
          <p:nvPr/>
        </p:nvGrpSpPr>
        <p:grpSpPr>
          <a:xfrm rot="0">
            <a:off x="15635253" y="1448784"/>
            <a:ext cx="1624047" cy="162404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pSp>
        <p:nvGrpSpPr>
          <p:cNvPr name="Group 8" id="8"/>
          <p:cNvGrpSpPr/>
          <p:nvPr/>
        </p:nvGrpSpPr>
        <p:grpSpPr>
          <a:xfrm rot="0">
            <a:off x="14925516" y="3470938"/>
            <a:ext cx="520334" cy="52033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sp>
        <p:nvSpPr>
          <p:cNvPr name="Freeform 11" id="11"/>
          <p:cNvSpPr/>
          <p:nvPr/>
        </p:nvSpPr>
        <p:spPr>
          <a:xfrm flipH="false" flipV="false" rot="0">
            <a:off x="1028700" y="1623131"/>
            <a:ext cx="4967546" cy="2511404"/>
          </a:xfrm>
          <a:custGeom>
            <a:avLst/>
            <a:gdLst/>
            <a:ahLst/>
            <a:cxnLst/>
            <a:rect r="r" b="b" t="t" l="l"/>
            <a:pathLst>
              <a:path h="2511404" w="4967546">
                <a:moveTo>
                  <a:pt x="0" y="0"/>
                </a:moveTo>
                <a:lnTo>
                  <a:pt x="4967546" y="0"/>
                </a:lnTo>
                <a:lnTo>
                  <a:pt x="4967546" y="2511404"/>
                </a:lnTo>
                <a:lnTo>
                  <a:pt x="0" y="2511404"/>
                </a:lnTo>
                <a:lnTo>
                  <a:pt x="0" y="0"/>
                </a:lnTo>
                <a:close/>
              </a:path>
            </a:pathLst>
          </a:custGeom>
          <a:blipFill>
            <a:blip r:embed="rId6"/>
            <a:stretch>
              <a:fillRect l="-16942" t="0" r="-11470" b="-69333"/>
            </a:stretch>
          </a:blipFill>
        </p:spPr>
      </p:sp>
      <p:sp>
        <p:nvSpPr>
          <p:cNvPr name="TextBox 12" id="12"/>
          <p:cNvSpPr txBox="true"/>
          <p:nvPr/>
        </p:nvSpPr>
        <p:spPr>
          <a:xfrm rot="0">
            <a:off x="1028700" y="876300"/>
            <a:ext cx="11350721" cy="984834"/>
          </a:xfrm>
          <a:prstGeom prst="rect">
            <a:avLst/>
          </a:prstGeom>
        </p:spPr>
        <p:txBody>
          <a:bodyPr anchor="t" rtlCol="false" tIns="0" lIns="0" bIns="0" rIns="0">
            <a:spAutoFit/>
          </a:bodyPr>
          <a:lstStyle/>
          <a:p>
            <a:pPr algn="l">
              <a:lnSpc>
                <a:spcPts val="7667"/>
              </a:lnSpc>
              <a:spcBef>
                <a:spcPct val="0"/>
              </a:spcBef>
            </a:pPr>
            <a:r>
              <a:rPr lang="en-US" b="true" sz="5477">
                <a:solidFill>
                  <a:srgbClr val="000000"/>
                </a:solidFill>
                <a:latin typeface="Poppins Bold"/>
                <a:ea typeface="Poppins Bold"/>
                <a:cs typeface="Poppins Bold"/>
                <a:sym typeface="Poppins Bold"/>
              </a:rPr>
              <a:t>REQUISITOS NO FUNCIONALES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397356" y="249377"/>
            <a:ext cx="4738244" cy="1184561"/>
          </a:xfrm>
          <a:custGeom>
            <a:avLst/>
            <a:gdLst/>
            <a:ahLst/>
            <a:cxnLst/>
            <a:rect r="r" b="b" t="t" l="l"/>
            <a:pathLst>
              <a:path h="1184561" w="4738244">
                <a:moveTo>
                  <a:pt x="0" y="0"/>
                </a:moveTo>
                <a:lnTo>
                  <a:pt x="4738244" y="0"/>
                </a:lnTo>
                <a:lnTo>
                  <a:pt x="4738244" y="1184561"/>
                </a:lnTo>
                <a:lnTo>
                  <a:pt x="0" y="1184561"/>
                </a:lnTo>
                <a:lnTo>
                  <a:pt x="0" y="0"/>
                </a:lnTo>
                <a:close/>
              </a:path>
            </a:pathLst>
          </a:custGeom>
          <a:blipFill>
            <a:blip r:embed="rId2"/>
            <a:stretch>
              <a:fillRect l="0" t="0" r="0" b="0"/>
            </a:stretch>
          </a:blipFill>
        </p:spPr>
      </p:sp>
      <p:sp>
        <p:nvSpPr>
          <p:cNvPr name="Freeform 3" id="3"/>
          <p:cNvSpPr/>
          <p:nvPr/>
        </p:nvSpPr>
        <p:spPr>
          <a:xfrm flipH="false" flipV="false" rot="0">
            <a:off x="1028700" y="956448"/>
            <a:ext cx="12452778" cy="8301852"/>
          </a:xfrm>
          <a:custGeom>
            <a:avLst/>
            <a:gdLst/>
            <a:ahLst/>
            <a:cxnLst/>
            <a:rect r="r" b="b" t="t" l="l"/>
            <a:pathLst>
              <a:path h="8301852" w="12452778">
                <a:moveTo>
                  <a:pt x="0" y="0"/>
                </a:moveTo>
                <a:lnTo>
                  <a:pt x="12452778" y="0"/>
                </a:lnTo>
                <a:lnTo>
                  <a:pt x="12452778" y="8301852"/>
                </a:lnTo>
                <a:lnTo>
                  <a:pt x="0" y="8301852"/>
                </a:lnTo>
                <a:lnTo>
                  <a:pt x="0" y="0"/>
                </a:lnTo>
                <a:close/>
              </a:path>
            </a:pathLst>
          </a:custGeom>
          <a:blipFill>
            <a:blip r:embed="rId3"/>
            <a:stretch>
              <a:fillRect l="0" t="0" r="0" b="0"/>
            </a:stretch>
          </a:blipFill>
        </p:spPr>
      </p:sp>
      <p:grpSp>
        <p:nvGrpSpPr>
          <p:cNvPr name="Group 4" id="4"/>
          <p:cNvGrpSpPr/>
          <p:nvPr/>
        </p:nvGrpSpPr>
        <p:grpSpPr>
          <a:xfrm rot="0">
            <a:off x="16447276" y="8446276"/>
            <a:ext cx="1624047" cy="162404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6" id="6"/>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pSp>
        <p:nvGrpSpPr>
          <p:cNvPr name="Group 7" id="7"/>
          <p:cNvGrpSpPr/>
          <p:nvPr/>
        </p:nvGrpSpPr>
        <p:grpSpPr>
          <a:xfrm rot="0">
            <a:off x="15120841" y="6697886"/>
            <a:ext cx="520334" cy="52033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E45"/>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61697" y="234029"/>
            <a:ext cx="14728414" cy="9818943"/>
          </a:xfrm>
          <a:custGeom>
            <a:avLst/>
            <a:gdLst/>
            <a:ahLst/>
            <a:cxnLst/>
            <a:rect r="r" b="b" t="t" l="l"/>
            <a:pathLst>
              <a:path h="9818943" w="14728414">
                <a:moveTo>
                  <a:pt x="0" y="0"/>
                </a:moveTo>
                <a:lnTo>
                  <a:pt x="14728414" y="0"/>
                </a:lnTo>
                <a:lnTo>
                  <a:pt x="14728414" y="9818942"/>
                </a:lnTo>
                <a:lnTo>
                  <a:pt x="0" y="9818942"/>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52133" y="367921"/>
            <a:ext cx="14326738" cy="9551159"/>
          </a:xfrm>
          <a:custGeom>
            <a:avLst/>
            <a:gdLst/>
            <a:ahLst/>
            <a:cxnLst/>
            <a:rect r="r" b="b" t="t" l="l"/>
            <a:pathLst>
              <a:path h="9551159" w="14326738">
                <a:moveTo>
                  <a:pt x="0" y="0"/>
                </a:moveTo>
                <a:lnTo>
                  <a:pt x="14326738" y="0"/>
                </a:lnTo>
                <a:lnTo>
                  <a:pt x="14326738" y="9551158"/>
                </a:lnTo>
                <a:lnTo>
                  <a:pt x="0" y="9551158"/>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DAHTlcRMl_Y</dc:identifier>
  <dcterms:modified xsi:type="dcterms:W3CDTF">2011-08-01T06:04:30Z</dcterms:modified>
  <cp:revision>1</cp:revision>
  <dc:title>Lista de Integrantes (Editado)</dc:title>
</cp:coreProperties>
</file>